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0"/>
            <a:ext cx="443865" cy="6858000"/>
          </a:xfrm>
          <a:custGeom>
            <a:avLst/>
            <a:gdLst/>
            <a:ahLst/>
            <a:cxnLst/>
            <a:rect l="l" t="t" r="r" b="b"/>
            <a:pathLst>
              <a:path w="443865" h="6858000">
                <a:moveTo>
                  <a:pt x="0" y="6858000"/>
                </a:moveTo>
                <a:lnTo>
                  <a:pt x="443484" y="6858000"/>
                </a:lnTo>
                <a:lnTo>
                  <a:pt x="44348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82396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047" y="6858000"/>
                </a:lnTo>
                <a:lnTo>
                  <a:pt x="304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4335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243" y="6858000"/>
                </a:lnTo>
                <a:lnTo>
                  <a:pt x="47243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5843" y="0"/>
            <a:ext cx="105410" cy="6858000"/>
          </a:xfrm>
          <a:custGeom>
            <a:avLst/>
            <a:gdLst/>
            <a:ahLst/>
            <a:cxnLst/>
            <a:rect l="l" t="t" r="r" b="b"/>
            <a:pathLst>
              <a:path w="105410" h="6858000">
                <a:moveTo>
                  <a:pt x="105156" y="0"/>
                </a:moveTo>
                <a:lnTo>
                  <a:pt x="0" y="0"/>
                </a:lnTo>
                <a:lnTo>
                  <a:pt x="0" y="6858000"/>
                </a:lnTo>
                <a:lnTo>
                  <a:pt x="105156" y="6858000"/>
                </a:lnTo>
                <a:lnTo>
                  <a:pt x="105156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0600" y="0"/>
            <a:ext cx="181610" cy="6858000"/>
          </a:xfrm>
          <a:custGeom>
            <a:avLst/>
            <a:gdLst/>
            <a:ahLst/>
            <a:cxnLst/>
            <a:rect l="l" t="t" r="r" b="b"/>
            <a:pathLst>
              <a:path w="181609" h="6858000">
                <a:moveTo>
                  <a:pt x="181356" y="0"/>
                </a:moveTo>
                <a:lnTo>
                  <a:pt x="0" y="0"/>
                </a:lnTo>
                <a:lnTo>
                  <a:pt x="0" y="6858000"/>
                </a:lnTo>
                <a:lnTo>
                  <a:pt x="181356" y="6858000"/>
                </a:lnTo>
                <a:lnTo>
                  <a:pt x="181356" y="0"/>
                </a:lnTo>
                <a:close/>
              </a:path>
            </a:pathLst>
          </a:custGeom>
          <a:solidFill>
            <a:srgbClr val="FFD9C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41476" y="0"/>
            <a:ext cx="230504" cy="6858000"/>
          </a:xfrm>
          <a:custGeom>
            <a:avLst/>
            <a:gdLst/>
            <a:ahLst/>
            <a:cxnLst/>
            <a:rect l="l" t="t" r="r" b="b"/>
            <a:pathLst>
              <a:path w="230505" h="6858000">
                <a:moveTo>
                  <a:pt x="230124" y="0"/>
                </a:moveTo>
                <a:lnTo>
                  <a:pt x="0" y="0"/>
                </a:lnTo>
                <a:lnTo>
                  <a:pt x="0" y="6858000"/>
                </a:lnTo>
                <a:lnTo>
                  <a:pt x="230124" y="6858000"/>
                </a:lnTo>
                <a:lnTo>
                  <a:pt x="230124" y="0"/>
                </a:lnTo>
                <a:close/>
              </a:path>
            </a:pathLst>
          </a:custGeom>
          <a:solidFill>
            <a:srgbClr val="FFECE8">
              <a:alpha val="7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6679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912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14399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912">
            <a:solidFill>
              <a:srgbClr val="FFEC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53439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912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727454" y="761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956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144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084564" y="0"/>
            <a:ext cx="58419" cy="6858000"/>
          </a:xfrm>
          <a:custGeom>
            <a:avLst/>
            <a:gdLst/>
            <a:ahLst/>
            <a:cxnLst/>
            <a:rect l="l" t="t" r="r" b="b"/>
            <a:pathLst>
              <a:path w="58420" h="6858000">
                <a:moveTo>
                  <a:pt x="11557" y="0"/>
                </a:moveTo>
                <a:lnTo>
                  <a:pt x="0" y="0"/>
                </a:lnTo>
                <a:lnTo>
                  <a:pt x="0" y="6858000"/>
                </a:lnTo>
                <a:lnTo>
                  <a:pt x="11557" y="6858000"/>
                </a:lnTo>
                <a:lnTo>
                  <a:pt x="11557" y="0"/>
                </a:lnTo>
                <a:close/>
              </a:path>
              <a:path w="58420" h="6858000">
                <a:moveTo>
                  <a:pt x="57912" y="0"/>
                </a:moveTo>
                <a:lnTo>
                  <a:pt x="23114" y="0"/>
                </a:lnTo>
                <a:lnTo>
                  <a:pt x="23114" y="6858000"/>
                </a:lnTo>
                <a:lnTo>
                  <a:pt x="57912" y="6858000"/>
                </a:lnTo>
                <a:lnTo>
                  <a:pt x="57912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2192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200" y="0"/>
                </a:moveTo>
                <a:lnTo>
                  <a:pt x="0" y="0"/>
                </a:lnTo>
                <a:lnTo>
                  <a:pt x="0" y="6858000"/>
                </a:lnTo>
                <a:lnTo>
                  <a:pt x="76200" y="6858000"/>
                </a:lnTo>
                <a:lnTo>
                  <a:pt x="76200" y="0"/>
                </a:lnTo>
                <a:close/>
              </a:path>
            </a:pathLst>
          </a:custGeom>
          <a:solidFill>
            <a:srgbClr val="FDC3AD">
              <a:alpha val="5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09600" y="3429000"/>
            <a:ext cx="1341120" cy="2078989"/>
          </a:xfrm>
          <a:custGeom>
            <a:avLst/>
            <a:gdLst/>
            <a:ahLst/>
            <a:cxnLst/>
            <a:rect l="l" t="t" r="r" b="b"/>
            <a:pathLst>
              <a:path w="1341120" h="2078989">
                <a:moveTo>
                  <a:pt x="1295400" y="647700"/>
                </a:moveTo>
                <a:lnTo>
                  <a:pt x="1293622" y="599363"/>
                </a:lnTo>
                <a:lnTo>
                  <a:pt x="1288376" y="551980"/>
                </a:lnTo>
                <a:lnTo>
                  <a:pt x="1279779" y="505701"/>
                </a:lnTo>
                <a:lnTo>
                  <a:pt x="1267968" y="460629"/>
                </a:lnTo>
                <a:lnTo>
                  <a:pt x="1253070" y="416890"/>
                </a:lnTo>
                <a:lnTo>
                  <a:pt x="1235202" y="374637"/>
                </a:lnTo>
                <a:lnTo>
                  <a:pt x="1214488" y="333959"/>
                </a:lnTo>
                <a:lnTo>
                  <a:pt x="1191056" y="295008"/>
                </a:lnTo>
                <a:lnTo>
                  <a:pt x="1165034" y="257898"/>
                </a:lnTo>
                <a:lnTo>
                  <a:pt x="1136535" y="222745"/>
                </a:lnTo>
                <a:lnTo>
                  <a:pt x="1105700" y="189699"/>
                </a:lnTo>
                <a:lnTo>
                  <a:pt x="1072654" y="158864"/>
                </a:lnTo>
                <a:lnTo>
                  <a:pt x="1037501" y="130365"/>
                </a:lnTo>
                <a:lnTo>
                  <a:pt x="1000391" y="104343"/>
                </a:lnTo>
                <a:lnTo>
                  <a:pt x="961440" y="80911"/>
                </a:lnTo>
                <a:lnTo>
                  <a:pt x="920762" y="60198"/>
                </a:lnTo>
                <a:lnTo>
                  <a:pt x="878509" y="42329"/>
                </a:lnTo>
                <a:lnTo>
                  <a:pt x="834771" y="27432"/>
                </a:lnTo>
                <a:lnTo>
                  <a:pt x="789698" y="15621"/>
                </a:lnTo>
                <a:lnTo>
                  <a:pt x="743419" y="7023"/>
                </a:lnTo>
                <a:lnTo>
                  <a:pt x="696036" y="1778"/>
                </a:lnTo>
                <a:lnTo>
                  <a:pt x="647700" y="0"/>
                </a:lnTo>
                <a:lnTo>
                  <a:pt x="599351" y="1778"/>
                </a:lnTo>
                <a:lnTo>
                  <a:pt x="551980" y="7023"/>
                </a:lnTo>
                <a:lnTo>
                  <a:pt x="505701" y="15621"/>
                </a:lnTo>
                <a:lnTo>
                  <a:pt x="460629" y="27432"/>
                </a:lnTo>
                <a:lnTo>
                  <a:pt x="416902" y="42329"/>
                </a:lnTo>
                <a:lnTo>
                  <a:pt x="374637" y="60198"/>
                </a:lnTo>
                <a:lnTo>
                  <a:pt x="333971" y="80911"/>
                </a:lnTo>
                <a:lnTo>
                  <a:pt x="295008" y="104343"/>
                </a:lnTo>
                <a:lnTo>
                  <a:pt x="257898" y="130365"/>
                </a:lnTo>
                <a:lnTo>
                  <a:pt x="222758" y="158864"/>
                </a:lnTo>
                <a:lnTo>
                  <a:pt x="189699" y="189699"/>
                </a:lnTo>
                <a:lnTo>
                  <a:pt x="158864" y="222745"/>
                </a:lnTo>
                <a:lnTo>
                  <a:pt x="130365" y="257898"/>
                </a:lnTo>
                <a:lnTo>
                  <a:pt x="104343" y="295008"/>
                </a:lnTo>
                <a:lnTo>
                  <a:pt x="80911" y="333959"/>
                </a:lnTo>
                <a:lnTo>
                  <a:pt x="60185" y="374637"/>
                </a:lnTo>
                <a:lnTo>
                  <a:pt x="42316" y="416890"/>
                </a:lnTo>
                <a:lnTo>
                  <a:pt x="27419" y="460629"/>
                </a:lnTo>
                <a:lnTo>
                  <a:pt x="15608" y="505701"/>
                </a:lnTo>
                <a:lnTo>
                  <a:pt x="7010" y="551980"/>
                </a:lnTo>
                <a:lnTo>
                  <a:pt x="1765" y="599363"/>
                </a:lnTo>
                <a:lnTo>
                  <a:pt x="0" y="647700"/>
                </a:lnTo>
                <a:lnTo>
                  <a:pt x="1765" y="696048"/>
                </a:lnTo>
                <a:lnTo>
                  <a:pt x="7010" y="743432"/>
                </a:lnTo>
                <a:lnTo>
                  <a:pt x="15608" y="789711"/>
                </a:lnTo>
                <a:lnTo>
                  <a:pt x="27419" y="834783"/>
                </a:lnTo>
                <a:lnTo>
                  <a:pt x="42316" y="878522"/>
                </a:lnTo>
                <a:lnTo>
                  <a:pt x="60185" y="920775"/>
                </a:lnTo>
                <a:lnTo>
                  <a:pt x="80911" y="961453"/>
                </a:lnTo>
                <a:lnTo>
                  <a:pt x="104343" y="1000404"/>
                </a:lnTo>
                <a:lnTo>
                  <a:pt x="130365" y="1037513"/>
                </a:lnTo>
                <a:lnTo>
                  <a:pt x="158864" y="1072667"/>
                </a:lnTo>
                <a:lnTo>
                  <a:pt x="189699" y="1105712"/>
                </a:lnTo>
                <a:lnTo>
                  <a:pt x="222758" y="1136548"/>
                </a:lnTo>
                <a:lnTo>
                  <a:pt x="257898" y="1165047"/>
                </a:lnTo>
                <a:lnTo>
                  <a:pt x="295008" y="1191069"/>
                </a:lnTo>
                <a:lnTo>
                  <a:pt x="333971" y="1214501"/>
                </a:lnTo>
                <a:lnTo>
                  <a:pt x="374637" y="1235214"/>
                </a:lnTo>
                <a:lnTo>
                  <a:pt x="416902" y="1253083"/>
                </a:lnTo>
                <a:lnTo>
                  <a:pt x="460629" y="1267980"/>
                </a:lnTo>
                <a:lnTo>
                  <a:pt x="505701" y="1279791"/>
                </a:lnTo>
                <a:lnTo>
                  <a:pt x="551980" y="1288389"/>
                </a:lnTo>
                <a:lnTo>
                  <a:pt x="599351" y="1293634"/>
                </a:lnTo>
                <a:lnTo>
                  <a:pt x="647700" y="1295400"/>
                </a:lnTo>
                <a:lnTo>
                  <a:pt x="696036" y="1293634"/>
                </a:lnTo>
                <a:lnTo>
                  <a:pt x="743419" y="1288389"/>
                </a:lnTo>
                <a:lnTo>
                  <a:pt x="789698" y="1279791"/>
                </a:lnTo>
                <a:lnTo>
                  <a:pt x="834771" y="1267980"/>
                </a:lnTo>
                <a:lnTo>
                  <a:pt x="878509" y="1253083"/>
                </a:lnTo>
                <a:lnTo>
                  <a:pt x="920762" y="1235214"/>
                </a:lnTo>
                <a:lnTo>
                  <a:pt x="961440" y="1214501"/>
                </a:lnTo>
                <a:lnTo>
                  <a:pt x="1000391" y="1191069"/>
                </a:lnTo>
                <a:lnTo>
                  <a:pt x="1037501" y="1165047"/>
                </a:lnTo>
                <a:lnTo>
                  <a:pt x="1072654" y="1136548"/>
                </a:lnTo>
                <a:lnTo>
                  <a:pt x="1105700" y="1105712"/>
                </a:lnTo>
                <a:lnTo>
                  <a:pt x="1136535" y="1072667"/>
                </a:lnTo>
                <a:lnTo>
                  <a:pt x="1165034" y="1037513"/>
                </a:lnTo>
                <a:lnTo>
                  <a:pt x="1191056" y="1000404"/>
                </a:lnTo>
                <a:lnTo>
                  <a:pt x="1214488" y="961453"/>
                </a:lnTo>
                <a:lnTo>
                  <a:pt x="1235202" y="920775"/>
                </a:lnTo>
                <a:lnTo>
                  <a:pt x="1253070" y="878522"/>
                </a:lnTo>
                <a:lnTo>
                  <a:pt x="1267968" y="834783"/>
                </a:lnTo>
                <a:lnTo>
                  <a:pt x="1279779" y="789711"/>
                </a:lnTo>
                <a:lnTo>
                  <a:pt x="1288376" y="743432"/>
                </a:lnTo>
                <a:lnTo>
                  <a:pt x="1293622" y="696048"/>
                </a:lnTo>
                <a:lnTo>
                  <a:pt x="1295400" y="647700"/>
                </a:lnTo>
                <a:close/>
              </a:path>
              <a:path w="1341120" h="2078989">
                <a:moveTo>
                  <a:pt x="1341120" y="1757934"/>
                </a:moveTo>
                <a:lnTo>
                  <a:pt x="1337640" y="1710537"/>
                </a:lnTo>
                <a:lnTo>
                  <a:pt x="1327531" y="1665287"/>
                </a:lnTo>
                <a:lnTo>
                  <a:pt x="1311300" y="1622704"/>
                </a:lnTo>
                <a:lnTo>
                  <a:pt x="1289431" y="1583258"/>
                </a:lnTo>
                <a:lnTo>
                  <a:pt x="1262418" y="1547469"/>
                </a:lnTo>
                <a:lnTo>
                  <a:pt x="1230782" y="1515833"/>
                </a:lnTo>
                <a:lnTo>
                  <a:pt x="1194993" y="1488821"/>
                </a:lnTo>
                <a:lnTo>
                  <a:pt x="1155547" y="1466951"/>
                </a:lnTo>
                <a:lnTo>
                  <a:pt x="1112964" y="1450721"/>
                </a:lnTo>
                <a:lnTo>
                  <a:pt x="1067714" y="1440611"/>
                </a:lnTo>
                <a:lnTo>
                  <a:pt x="1020318" y="1437132"/>
                </a:lnTo>
                <a:lnTo>
                  <a:pt x="972908" y="1440611"/>
                </a:lnTo>
                <a:lnTo>
                  <a:pt x="927658" y="1450721"/>
                </a:lnTo>
                <a:lnTo>
                  <a:pt x="885075" y="1466951"/>
                </a:lnTo>
                <a:lnTo>
                  <a:pt x="845629" y="1488821"/>
                </a:lnTo>
                <a:lnTo>
                  <a:pt x="809840" y="1515833"/>
                </a:lnTo>
                <a:lnTo>
                  <a:pt x="778205" y="1547469"/>
                </a:lnTo>
                <a:lnTo>
                  <a:pt x="751192" y="1583258"/>
                </a:lnTo>
                <a:lnTo>
                  <a:pt x="729322" y="1622704"/>
                </a:lnTo>
                <a:lnTo>
                  <a:pt x="713092" y="1665287"/>
                </a:lnTo>
                <a:lnTo>
                  <a:pt x="702983" y="1710537"/>
                </a:lnTo>
                <a:lnTo>
                  <a:pt x="699516" y="1757934"/>
                </a:lnTo>
                <a:lnTo>
                  <a:pt x="702983" y="1805343"/>
                </a:lnTo>
                <a:lnTo>
                  <a:pt x="713092" y="1850593"/>
                </a:lnTo>
                <a:lnTo>
                  <a:pt x="729322" y="1893176"/>
                </a:lnTo>
                <a:lnTo>
                  <a:pt x="751192" y="1932622"/>
                </a:lnTo>
                <a:lnTo>
                  <a:pt x="778205" y="1968411"/>
                </a:lnTo>
                <a:lnTo>
                  <a:pt x="809840" y="2000046"/>
                </a:lnTo>
                <a:lnTo>
                  <a:pt x="845629" y="2027059"/>
                </a:lnTo>
                <a:lnTo>
                  <a:pt x="885075" y="2048929"/>
                </a:lnTo>
                <a:lnTo>
                  <a:pt x="927658" y="2065159"/>
                </a:lnTo>
                <a:lnTo>
                  <a:pt x="972908" y="2075268"/>
                </a:lnTo>
                <a:lnTo>
                  <a:pt x="1020318" y="2078736"/>
                </a:lnTo>
                <a:lnTo>
                  <a:pt x="1067714" y="2075268"/>
                </a:lnTo>
                <a:lnTo>
                  <a:pt x="1112964" y="2065159"/>
                </a:lnTo>
                <a:lnTo>
                  <a:pt x="1155547" y="2048929"/>
                </a:lnTo>
                <a:lnTo>
                  <a:pt x="1194993" y="2027059"/>
                </a:lnTo>
                <a:lnTo>
                  <a:pt x="1230782" y="2000046"/>
                </a:lnTo>
                <a:lnTo>
                  <a:pt x="1262418" y="1968411"/>
                </a:lnTo>
                <a:lnTo>
                  <a:pt x="1289431" y="1932622"/>
                </a:lnTo>
                <a:lnTo>
                  <a:pt x="1311300" y="1893176"/>
                </a:lnTo>
                <a:lnTo>
                  <a:pt x="1327531" y="1850593"/>
                </a:lnTo>
                <a:lnTo>
                  <a:pt x="1337640" y="1805343"/>
                </a:lnTo>
                <a:lnTo>
                  <a:pt x="1341120" y="1757934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183" y="5500115"/>
            <a:ext cx="137159" cy="137159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1664195" y="4495800"/>
            <a:ext cx="607060" cy="1567180"/>
          </a:xfrm>
          <a:custGeom>
            <a:avLst/>
            <a:gdLst/>
            <a:ahLst/>
            <a:cxnLst/>
            <a:rect l="l" t="t" r="r" b="b"/>
            <a:pathLst>
              <a:path w="607060" h="1567179">
                <a:moveTo>
                  <a:pt x="274332" y="1429512"/>
                </a:moveTo>
                <a:lnTo>
                  <a:pt x="267322" y="1386166"/>
                </a:lnTo>
                <a:lnTo>
                  <a:pt x="247840" y="1348511"/>
                </a:lnTo>
                <a:lnTo>
                  <a:pt x="218147" y="1318818"/>
                </a:lnTo>
                <a:lnTo>
                  <a:pt x="180492" y="1299349"/>
                </a:lnTo>
                <a:lnTo>
                  <a:pt x="137172" y="1292352"/>
                </a:lnTo>
                <a:lnTo>
                  <a:pt x="93840" y="1299349"/>
                </a:lnTo>
                <a:lnTo>
                  <a:pt x="56184" y="1318818"/>
                </a:lnTo>
                <a:lnTo>
                  <a:pt x="26492" y="1348511"/>
                </a:lnTo>
                <a:lnTo>
                  <a:pt x="7010" y="1386166"/>
                </a:lnTo>
                <a:lnTo>
                  <a:pt x="0" y="1429512"/>
                </a:lnTo>
                <a:lnTo>
                  <a:pt x="7010" y="1472869"/>
                </a:lnTo>
                <a:lnTo>
                  <a:pt x="26492" y="1510525"/>
                </a:lnTo>
                <a:lnTo>
                  <a:pt x="56184" y="1540217"/>
                </a:lnTo>
                <a:lnTo>
                  <a:pt x="93840" y="1559687"/>
                </a:lnTo>
                <a:lnTo>
                  <a:pt x="137172" y="1566672"/>
                </a:lnTo>
                <a:lnTo>
                  <a:pt x="180492" y="1559687"/>
                </a:lnTo>
                <a:lnTo>
                  <a:pt x="218147" y="1540217"/>
                </a:lnTo>
                <a:lnTo>
                  <a:pt x="247840" y="1510525"/>
                </a:lnTo>
                <a:lnTo>
                  <a:pt x="267322" y="1472869"/>
                </a:lnTo>
                <a:lnTo>
                  <a:pt x="274332" y="1429512"/>
                </a:lnTo>
                <a:close/>
              </a:path>
              <a:path w="607060" h="1567179">
                <a:moveTo>
                  <a:pt x="606564" y="182880"/>
                </a:moveTo>
                <a:lnTo>
                  <a:pt x="600024" y="134277"/>
                </a:lnTo>
                <a:lnTo>
                  <a:pt x="581583" y="90601"/>
                </a:lnTo>
                <a:lnTo>
                  <a:pt x="552983" y="53581"/>
                </a:lnTo>
                <a:lnTo>
                  <a:pt x="515962" y="24980"/>
                </a:lnTo>
                <a:lnTo>
                  <a:pt x="472287" y="6540"/>
                </a:lnTo>
                <a:lnTo>
                  <a:pt x="423684" y="0"/>
                </a:lnTo>
                <a:lnTo>
                  <a:pt x="375069" y="6540"/>
                </a:lnTo>
                <a:lnTo>
                  <a:pt x="331393" y="24980"/>
                </a:lnTo>
                <a:lnTo>
                  <a:pt x="294373" y="53581"/>
                </a:lnTo>
                <a:lnTo>
                  <a:pt x="265772" y="90601"/>
                </a:lnTo>
                <a:lnTo>
                  <a:pt x="247332" y="134277"/>
                </a:lnTo>
                <a:lnTo>
                  <a:pt x="240804" y="182880"/>
                </a:lnTo>
                <a:lnTo>
                  <a:pt x="247332" y="231495"/>
                </a:lnTo>
                <a:lnTo>
                  <a:pt x="265772" y="275170"/>
                </a:lnTo>
                <a:lnTo>
                  <a:pt x="294373" y="312191"/>
                </a:lnTo>
                <a:lnTo>
                  <a:pt x="331393" y="340791"/>
                </a:lnTo>
                <a:lnTo>
                  <a:pt x="375069" y="359232"/>
                </a:lnTo>
                <a:lnTo>
                  <a:pt x="423684" y="365760"/>
                </a:lnTo>
                <a:lnTo>
                  <a:pt x="472287" y="359232"/>
                </a:lnTo>
                <a:lnTo>
                  <a:pt x="515962" y="340791"/>
                </a:lnTo>
                <a:lnTo>
                  <a:pt x="552983" y="312191"/>
                </a:lnTo>
                <a:lnTo>
                  <a:pt x="581583" y="275170"/>
                </a:lnTo>
                <a:lnTo>
                  <a:pt x="600024" y="231495"/>
                </a:lnTo>
                <a:lnTo>
                  <a:pt x="606564" y="18288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761" y="761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231" y="0"/>
            <a:ext cx="58419" cy="6858000"/>
          </a:xfrm>
          <a:custGeom>
            <a:avLst/>
            <a:gdLst/>
            <a:ahLst/>
            <a:cxnLst/>
            <a:rect l="l" t="t" r="r" b="b"/>
            <a:pathLst>
              <a:path w="58419" h="6858000">
                <a:moveTo>
                  <a:pt x="11595" y="0"/>
                </a:moveTo>
                <a:lnTo>
                  <a:pt x="0" y="0"/>
                </a:lnTo>
                <a:lnTo>
                  <a:pt x="12" y="6858000"/>
                </a:lnTo>
                <a:lnTo>
                  <a:pt x="11595" y="6858000"/>
                </a:lnTo>
                <a:lnTo>
                  <a:pt x="11595" y="0"/>
                </a:lnTo>
                <a:close/>
              </a:path>
              <a:path w="58419" h="6858000">
                <a:moveTo>
                  <a:pt x="57924" y="0"/>
                </a:moveTo>
                <a:lnTo>
                  <a:pt x="23177" y="0"/>
                </a:lnTo>
                <a:lnTo>
                  <a:pt x="23177" y="6858000"/>
                </a:lnTo>
                <a:lnTo>
                  <a:pt x="57924" y="6858000"/>
                </a:lnTo>
                <a:lnTo>
                  <a:pt x="57924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144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03501" y="2688158"/>
            <a:ext cx="4936997" cy="1031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437313"/>
            <a:ext cx="8072119" cy="3523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korlakuntasaikamal10@gmail.com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opencv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math.uci.edu/icamp/courses/math77c/demos/hist_eq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6517" y="4035932"/>
            <a:ext cx="5591175" cy="225254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3590"/>
              </a:lnSpc>
              <a:spcBef>
                <a:spcPts val="225"/>
              </a:spcBef>
            </a:pPr>
            <a:r>
              <a:rPr sz="3000" b="1" spc="-5" dirty="0">
                <a:solidFill>
                  <a:srgbClr val="565F6C"/>
                </a:solidFill>
                <a:latin typeface="Arial"/>
                <a:cs typeface="Arial"/>
              </a:rPr>
              <a:t>I</a:t>
            </a:r>
            <a:r>
              <a:rPr sz="2400" b="1" spc="-5" dirty="0">
                <a:solidFill>
                  <a:srgbClr val="565F6C"/>
                </a:solidFill>
                <a:latin typeface="Arial"/>
                <a:cs typeface="Arial"/>
              </a:rPr>
              <a:t>NTRODUCTION</a:t>
            </a:r>
            <a:r>
              <a:rPr sz="2400" b="1" dirty="0">
                <a:solidFill>
                  <a:srgbClr val="565F6C"/>
                </a:solidFill>
                <a:latin typeface="Arial"/>
                <a:cs typeface="Arial"/>
              </a:rPr>
              <a:t> </a:t>
            </a:r>
            <a:r>
              <a:rPr sz="2400" b="1" spc="-30" dirty="0">
                <a:solidFill>
                  <a:srgbClr val="565F6C"/>
                </a:solidFill>
                <a:latin typeface="Arial"/>
                <a:cs typeface="Arial"/>
              </a:rPr>
              <a:t>TO </a:t>
            </a:r>
            <a:r>
              <a:rPr sz="3000" b="1" spc="-5" dirty="0">
                <a:solidFill>
                  <a:srgbClr val="565F6C"/>
                </a:solidFill>
                <a:latin typeface="Arial"/>
                <a:cs typeface="Arial"/>
              </a:rPr>
              <a:t>O</a:t>
            </a:r>
            <a:r>
              <a:rPr sz="2400" b="1" spc="-5" dirty="0">
                <a:solidFill>
                  <a:srgbClr val="565F6C"/>
                </a:solidFill>
                <a:latin typeface="Arial"/>
                <a:cs typeface="Arial"/>
              </a:rPr>
              <a:t>PEN</a:t>
            </a:r>
            <a:r>
              <a:rPr sz="3000" b="1" spc="-5" dirty="0">
                <a:solidFill>
                  <a:srgbClr val="565F6C"/>
                </a:solidFill>
                <a:latin typeface="Arial"/>
                <a:cs typeface="Arial"/>
              </a:rPr>
              <a:t>CV </a:t>
            </a:r>
            <a:r>
              <a:rPr sz="3000" b="1" dirty="0">
                <a:solidFill>
                  <a:srgbClr val="565F6C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65F6C"/>
                </a:solidFill>
                <a:latin typeface="Arial"/>
                <a:cs typeface="Arial"/>
              </a:rPr>
              <a:t>H</a:t>
            </a:r>
            <a:r>
              <a:rPr sz="2400" b="1" spc="-5" dirty="0">
                <a:solidFill>
                  <a:srgbClr val="565F6C"/>
                </a:solidFill>
                <a:latin typeface="Arial"/>
                <a:cs typeface="Arial"/>
              </a:rPr>
              <a:t>ANDS</a:t>
            </a:r>
            <a:r>
              <a:rPr sz="3000" b="1" spc="-5" dirty="0">
                <a:solidFill>
                  <a:srgbClr val="565F6C"/>
                </a:solidFill>
                <a:latin typeface="Arial"/>
                <a:cs typeface="Arial"/>
              </a:rPr>
              <a:t>-</a:t>
            </a:r>
            <a:r>
              <a:rPr sz="2400" b="1" spc="-5" dirty="0">
                <a:solidFill>
                  <a:srgbClr val="565F6C"/>
                </a:solidFill>
                <a:latin typeface="Arial"/>
                <a:cs typeface="Arial"/>
              </a:rPr>
              <a:t>ON</a:t>
            </a:r>
            <a:r>
              <a:rPr sz="2400" b="1" spc="180" dirty="0">
                <a:solidFill>
                  <a:srgbClr val="565F6C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65F6C"/>
                </a:solidFill>
                <a:latin typeface="Arial"/>
                <a:cs typeface="Arial"/>
              </a:rPr>
              <a:t>W</a:t>
            </a:r>
            <a:r>
              <a:rPr sz="2400" b="1" spc="-5" dirty="0">
                <a:solidFill>
                  <a:srgbClr val="565F6C"/>
                </a:solidFill>
                <a:latin typeface="Arial"/>
                <a:cs typeface="Arial"/>
              </a:rPr>
              <a:t>ORKSHOP</a:t>
            </a:r>
            <a:r>
              <a:rPr sz="2400" b="1" spc="135" dirty="0">
                <a:solidFill>
                  <a:srgbClr val="565F6C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65F6C"/>
                </a:solidFill>
                <a:latin typeface="Arial"/>
                <a:cs typeface="Arial"/>
              </a:rPr>
              <a:t>IN</a:t>
            </a:r>
            <a:r>
              <a:rPr sz="2400" b="1" spc="155" dirty="0">
                <a:solidFill>
                  <a:srgbClr val="565F6C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565F6C"/>
                </a:solidFill>
                <a:latin typeface="Arial"/>
                <a:cs typeface="Arial"/>
              </a:rPr>
              <a:t>P</a:t>
            </a:r>
            <a:r>
              <a:rPr sz="2400" b="1" spc="-5" dirty="0">
                <a:solidFill>
                  <a:srgbClr val="565F6C"/>
                </a:solidFill>
                <a:latin typeface="Arial"/>
                <a:cs typeface="Arial"/>
              </a:rPr>
              <a:t>YTHON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endParaRPr lang="en-US" b="1" spc="-15" dirty="0">
              <a:solidFill>
                <a:srgbClr val="565F6C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lang="en-US" b="1" spc="-15" dirty="0">
                <a:solidFill>
                  <a:srgbClr val="565F6C"/>
                </a:solidFill>
                <a:latin typeface="Arial"/>
                <a:cs typeface="Arial"/>
              </a:rPr>
              <a:t>SAI KAMAL </a:t>
            </a:r>
            <a:br>
              <a:rPr lang="en-US" b="1" spc="-15" dirty="0">
                <a:solidFill>
                  <a:srgbClr val="565F6C"/>
                </a:solidFill>
                <a:latin typeface="Arial"/>
                <a:cs typeface="Arial"/>
              </a:rPr>
            </a:br>
            <a:r>
              <a:rPr lang="en-US" b="1" spc="-15" dirty="0">
                <a:solidFill>
                  <a:srgbClr val="565F6C"/>
                </a:solidFill>
                <a:latin typeface="Arial"/>
                <a:cs typeface="Arial"/>
                <a:hlinkClick r:id="rId2"/>
              </a:rPr>
              <a:t>korlakuntasaikamal10@gmail.com</a:t>
            </a:r>
            <a:endParaRPr lang="en-US" b="1" spc="-15" dirty="0">
              <a:solidFill>
                <a:srgbClr val="565F6C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lang="en-US" sz="1800" dirty="0">
                <a:latin typeface="Arial"/>
                <a:cs typeface="Arial"/>
              </a:rPr>
              <a:t>Computer visio</a:t>
            </a:r>
            <a:r>
              <a:rPr lang="en-US" dirty="0">
                <a:latin typeface="Arial"/>
                <a:cs typeface="Arial"/>
              </a:rPr>
              <a:t>n scientist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2056" y="2060448"/>
            <a:ext cx="1272119" cy="15788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0142"/>
            <a:ext cx="172021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565F6C"/>
                </a:solidFill>
              </a:rPr>
              <a:t>O</a:t>
            </a:r>
            <a:r>
              <a:rPr sz="2400" spc="-5" dirty="0">
                <a:solidFill>
                  <a:srgbClr val="565F6C"/>
                </a:solidFill>
              </a:rPr>
              <a:t>VE</a:t>
            </a:r>
            <a:r>
              <a:rPr sz="2400" spc="-65" dirty="0">
                <a:solidFill>
                  <a:srgbClr val="565F6C"/>
                </a:solidFill>
              </a:rPr>
              <a:t>R</a:t>
            </a:r>
            <a:r>
              <a:rPr sz="2400" dirty="0">
                <a:solidFill>
                  <a:srgbClr val="565F6C"/>
                </a:solidFill>
              </a:rPr>
              <a:t>VIEW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597431"/>
            <a:ext cx="7165975" cy="4632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1015" indent="-274320">
              <a:lnSpc>
                <a:spcPct val="110100"/>
              </a:lnSpc>
              <a:spcBef>
                <a:spcPts val="10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OpenCV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most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popular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Image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Processing and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Computer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Vision </a:t>
            </a:r>
            <a:r>
              <a:rPr sz="2200" spc="-5" dirty="0">
                <a:latin typeface="Arial MT"/>
                <a:cs typeface="Arial MT"/>
              </a:rPr>
              <a:t>library</a:t>
            </a:r>
            <a:endParaRPr sz="22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165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Free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for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both academic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commercial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</a:t>
            </a:r>
            <a:endParaRPr sz="22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192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35" dirty="0">
                <a:latin typeface="Arial MT"/>
                <a:cs typeface="Arial MT"/>
              </a:rPr>
              <a:t>Very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easy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learn</a:t>
            </a:r>
            <a:endParaRPr sz="2200">
              <a:latin typeface="Arial MT"/>
              <a:cs typeface="Arial MT"/>
            </a:endParaRPr>
          </a:p>
          <a:p>
            <a:pPr marL="286385" marR="5080" indent="-274320">
              <a:lnSpc>
                <a:spcPct val="150000"/>
              </a:lnSpc>
              <a:spcBef>
                <a:spcPts val="60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It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has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C++,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C,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Python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Java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interfaces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supports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Windows, Linux, Mac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OS,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iOS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Android</a:t>
            </a:r>
            <a:endParaRPr sz="2200">
              <a:latin typeface="Arial MT"/>
              <a:cs typeface="Arial MT"/>
            </a:endParaRPr>
          </a:p>
          <a:p>
            <a:pPr marL="286385" marR="24765" indent="-274320">
              <a:lnSpc>
                <a:spcPct val="150100"/>
              </a:lnSpc>
              <a:spcBef>
                <a:spcPts val="5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Designed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for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computational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efficiency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with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strong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focus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on</a:t>
            </a:r>
            <a:r>
              <a:rPr sz="2200" dirty="0">
                <a:latin typeface="Arial MT"/>
                <a:cs typeface="Arial MT"/>
              </a:rPr>
              <a:t> real-time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applications</a:t>
            </a:r>
            <a:endParaRPr sz="22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192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Lot of documentation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online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890142"/>
            <a:ext cx="20110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565F6C"/>
                </a:solidFill>
              </a:rPr>
              <a:t>R</a:t>
            </a:r>
            <a:r>
              <a:rPr sz="2400" spc="-5" dirty="0">
                <a:solidFill>
                  <a:srgbClr val="565F6C"/>
                </a:solidFill>
              </a:rPr>
              <a:t>ESOURCES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589278"/>
            <a:ext cx="7153275" cy="85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Arial MT"/>
                <a:cs typeface="Arial MT"/>
              </a:rPr>
              <a:t>Official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site:</a:t>
            </a:r>
            <a:r>
              <a:rPr sz="2400" spc="-5" dirty="0">
                <a:solidFill>
                  <a:srgbClr val="D2601C"/>
                </a:solidFill>
                <a:latin typeface="Arial MT"/>
                <a:cs typeface="Arial MT"/>
              </a:rPr>
              <a:t> </a:t>
            </a:r>
            <a:r>
              <a:rPr sz="2400" u="heavy" spc="-1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Arial MT"/>
                <a:cs typeface="Arial MT"/>
                <a:hlinkClick r:id="rId2"/>
              </a:rPr>
              <a:t>http://opencv.org/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D8537"/>
              </a:buClr>
            </a:pPr>
            <a:endParaRPr sz="3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7108" y="890142"/>
            <a:ext cx="48806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565F6C"/>
                </a:solidFill>
              </a:rPr>
              <a:t>W</a:t>
            </a:r>
            <a:r>
              <a:rPr sz="2400" spc="-5" dirty="0">
                <a:solidFill>
                  <a:srgbClr val="565F6C"/>
                </a:solidFill>
              </a:rPr>
              <a:t>ORKSHOP</a:t>
            </a:r>
            <a:r>
              <a:rPr sz="2400" spc="125" dirty="0">
                <a:solidFill>
                  <a:srgbClr val="565F6C"/>
                </a:solidFill>
              </a:rPr>
              <a:t> </a:t>
            </a:r>
            <a:r>
              <a:rPr sz="3000" spc="-5" dirty="0">
                <a:solidFill>
                  <a:srgbClr val="565F6C"/>
                </a:solidFill>
              </a:rPr>
              <a:t>O</a:t>
            </a:r>
            <a:r>
              <a:rPr sz="2400" spc="-5" dirty="0">
                <a:solidFill>
                  <a:srgbClr val="565F6C"/>
                </a:solidFill>
              </a:rPr>
              <a:t>UTLINE</a:t>
            </a:r>
            <a:r>
              <a:rPr sz="2400" spc="170" dirty="0">
                <a:solidFill>
                  <a:srgbClr val="565F6C"/>
                </a:solidFill>
              </a:rPr>
              <a:t> </a:t>
            </a:r>
            <a:r>
              <a:rPr sz="3000" spc="-10" dirty="0">
                <a:solidFill>
                  <a:srgbClr val="565F6C"/>
                </a:solidFill>
              </a:rPr>
              <a:t>(</a:t>
            </a:r>
            <a:r>
              <a:rPr sz="2400" spc="-10" dirty="0">
                <a:solidFill>
                  <a:srgbClr val="565F6C"/>
                </a:solidFill>
              </a:rPr>
              <a:t>TOPICS</a:t>
            </a:r>
            <a:r>
              <a:rPr sz="3000" spc="-10" dirty="0">
                <a:solidFill>
                  <a:srgbClr val="565F6C"/>
                </a:solidFill>
              </a:rPr>
              <a:t>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04467"/>
            <a:ext cx="5645785" cy="4635500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4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Loading, showing and saving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images</a:t>
            </a:r>
            <a:endParaRPr sz="22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13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Histograms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Histograms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equalizations</a:t>
            </a:r>
            <a:endParaRPr sz="22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139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Gamma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correction</a:t>
            </a:r>
            <a:endParaRPr sz="22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13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Smoothing,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sharpening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noise removal</a:t>
            </a:r>
            <a:endParaRPr sz="22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139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Morphological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operations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(erosion,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dilation)</a:t>
            </a:r>
            <a:endParaRPr sz="22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13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Edge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detection</a:t>
            </a:r>
            <a:endParaRPr sz="22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139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10" dirty="0">
                <a:latin typeface="Arial MT"/>
                <a:cs typeface="Arial MT"/>
              </a:rPr>
              <a:t>Transformation</a:t>
            </a:r>
            <a:endParaRPr sz="22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13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Adaptive thresholding</a:t>
            </a:r>
            <a:endParaRPr sz="22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13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And finally: Document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scanner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07846"/>
            <a:ext cx="63995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565F6C"/>
                </a:solidFill>
              </a:rPr>
              <a:t>L</a:t>
            </a:r>
            <a:r>
              <a:rPr sz="2400" spc="-5" dirty="0">
                <a:solidFill>
                  <a:srgbClr val="565F6C"/>
                </a:solidFill>
              </a:rPr>
              <a:t>OADING</a:t>
            </a:r>
            <a:r>
              <a:rPr sz="3000" spc="-5" dirty="0">
                <a:solidFill>
                  <a:srgbClr val="565F6C"/>
                </a:solidFill>
              </a:rPr>
              <a:t>, </a:t>
            </a:r>
            <a:r>
              <a:rPr sz="2400" spc="-5" dirty="0">
                <a:solidFill>
                  <a:srgbClr val="565F6C"/>
                </a:solidFill>
              </a:rPr>
              <a:t>SHOWING AND</a:t>
            </a:r>
            <a:r>
              <a:rPr sz="2400" spc="180" dirty="0">
                <a:solidFill>
                  <a:srgbClr val="565F6C"/>
                </a:solidFill>
              </a:rPr>
              <a:t> </a:t>
            </a:r>
            <a:r>
              <a:rPr sz="2400" spc="-35" dirty="0">
                <a:solidFill>
                  <a:srgbClr val="565F6C"/>
                </a:solidFill>
              </a:rPr>
              <a:t>SAVING</a:t>
            </a:r>
            <a:r>
              <a:rPr sz="2400" spc="185" dirty="0">
                <a:solidFill>
                  <a:srgbClr val="565F6C"/>
                </a:solidFill>
              </a:rPr>
              <a:t> </a:t>
            </a:r>
            <a:r>
              <a:rPr sz="2400" dirty="0">
                <a:solidFill>
                  <a:srgbClr val="565F6C"/>
                </a:solidFill>
              </a:rPr>
              <a:t>IMAGES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712416"/>
            <a:ext cx="7029450" cy="462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b="1" spc="-5" dirty="0">
                <a:latin typeface="Arial"/>
                <a:cs typeface="Arial"/>
              </a:rPr>
              <a:t>Loading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" dirty="0">
                <a:latin typeface="Calibri"/>
                <a:cs typeface="Calibri"/>
              </a:rPr>
              <a:t>image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cv2.imread(“file_name",0)</a:t>
            </a:r>
            <a:endParaRPr sz="2400">
              <a:latin typeface="Calibri"/>
              <a:cs typeface="Calibri"/>
            </a:endParaRPr>
          </a:p>
          <a:p>
            <a:pPr marL="286385" marR="92710">
              <a:lnSpc>
                <a:spcPct val="140000"/>
              </a:lnSpc>
              <a:spcBef>
                <a:spcPts val="605"/>
              </a:spcBef>
            </a:pPr>
            <a:r>
              <a:rPr sz="2400" spc="-5" dirty="0">
                <a:latin typeface="Arial MT"/>
                <a:cs typeface="Arial MT"/>
              </a:rPr>
              <a:t>(0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means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Gray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Scale,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number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will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original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image’s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colors)</a:t>
            </a:r>
            <a:endParaRPr sz="24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175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b="1" spc="-5" dirty="0">
                <a:latin typeface="Arial"/>
                <a:cs typeface="Arial"/>
              </a:rPr>
              <a:t>Displaying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Calibri"/>
                <a:cs typeface="Calibri"/>
              </a:rPr>
              <a:t>cv2.imshow(“some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headline",image)</a:t>
            </a:r>
            <a:endParaRPr sz="2400">
              <a:latin typeface="Calibri"/>
              <a:cs typeface="Calibri"/>
            </a:endParaRPr>
          </a:p>
          <a:p>
            <a:pPr marL="286385" marR="5080" indent="66675">
              <a:lnSpc>
                <a:spcPct val="140000"/>
              </a:lnSpc>
              <a:spcBef>
                <a:spcPts val="605"/>
              </a:spcBef>
              <a:tabLst>
                <a:tab pos="3322954" algn="l"/>
                <a:tab pos="5274310" algn="l"/>
              </a:tabLst>
            </a:pPr>
            <a:r>
              <a:rPr sz="2400" spc="-5" dirty="0">
                <a:latin typeface="Arial MT"/>
                <a:cs typeface="Arial MT"/>
              </a:rPr>
              <a:t>(Usually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followed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by:	</a:t>
            </a:r>
            <a:r>
              <a:rPr sz="2400" spc="-15" dirty="0">
                <a:latin typeface="Calibri"/>
                <a:cs typeface="Calibri"/>
              </a:rPr>
              <a:t>cv2.waitKey(0)	</a:t>
            </a:r>
            <a:r>
              <a:rPr sz="2400" spc="-5" dirty="0">
                <a:latin typeface="Arial MT"/>
                <a:cs typeface="Arial MT"/>
              </a:rPr>
              <a:t>so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image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 </a:t>
            </a:r>
            <a:r>
              <a:rPr sz="2400" spc="-5" dirty="0">
                <a:latin typeface="Arial MT"/>
                <a:cs typeface="Arial MT"/>
              </a:rPr>
              <a:t>close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immediately)</a:t>
            </a:r>
            <a:endParaRPr sz="24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175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b="1" spc="-5" dirty="0">
                <a:latin typeface="Arial"/>
                <a:cs typeface="Arial"/>
              </a:rPr>
              <a:t>Saving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Calibri"/>
                <a:cs typeface="Calibri"/>
              </a:rPr>
              <a:t>cv2.imwrite(“file_name",image)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D8537"/>
              </a:buClr>
              <a:buFont typeface="Wingdings"/>
              <a:buChar char=""/>
            </a:pPr>
            <a:endParaRPr sz="315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Calibri"/>
                <a:cs typeface="Calibri"/>
              </a:rPr>
              <a:t>Code: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load_and_display.py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890142"/>
            <a:ext cx="75768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565F6C"/>
                </a:solidFill>
              </a:rPr>
              <a:t>H</a:t>
            </a:r>
            <a:r>
              <a:rPr sz="2400" spc="-5" dirty="0">
                <a:solidFill>
                  <a:srgbClr val="565F6C"/>
                </a:solidFill>
              </a:rPr>
              <a:t>ISTOGRAMS</a:t>
            </a:r>
            <a:r>
              <a:rPr sz="2400" spc="-30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AND</a:t>
            </a:r>
            <a:r>
              <a:rPr sz="2400" spc="170" dirty="0">
                <a:solidFill>
                  <a:srgbClr val="565F6C"/>
                </a:solidFill>
              </a:rPr>
              <a:t> </a:t>
            </a:r>
            <a:r>
              <a:rPr sz="3000" spc="-10" dirty="0">
                <a:solidFill>
                  <a:srgbClr val="565F6C"/>
                </a:solidFill>
              </a:rPr>
              <a:t>H</a:t>
            </a:r>
            <a:r>
              <a:rPr sz="2400" spc="-10" dirty="0">
                <a:solidFill>
                  <a:srgbClr val="565F6C"/>
                </a:solidFill>
              </a:rPr>
              <a:t>ISTOGRAMS</a:t>
            </a:r>
            <a:r>
              <a:rPr sz="2400" spc="150" dirty="0">
                <a:solidFill>
                  <a:srgbClr val="565F6C"/>
                </a:solidFill>
              </a:rPr>
              <a:t> </a:t>
            </a:r>
            <a:r>
              <a:rPr sz="2400" spc="-15" dirty="0">
                <a:solidFill>
                  <a:srgbClr val="565F6C"/>
                </a:solidFill>
              </a:rPr>
              <a:t>EQUALIZATIONS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5853"/>
            <a:ext cx="69627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b="1" spc="-5" dirty="0">
                <a:latin typeface="Arial"/>
                <a:cs typeface="Arial"/>
              </a:rPr>
              <a:t>Histogram: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Showing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how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many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pixels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have a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certain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intensity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(between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0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255)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 a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picture.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904" y="2924555"/>
            <a:ext cx="3023616" cy="30693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95928" y="2924555"/>
            <a:ext cx="3797808" cy="30251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434466"/>
            <a:ext cx="5056505" cy="93853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590"/>
              </a:lnSpc>
              <a:spcBef>
                <a:spcPts val="204"/>
              </a:spcBef>
            </a:pPr>
            <a:r>
              <a:rPr sz="3000" spc="-5" dirty="0">
                <a:solidFill>
                  <a:srgbClr val="565F6C"/>
                </a:solidFill>
              </a:rPr>
              <a:t>H</a:t>
            </a:r>
            <a:r>
              <a:rPr sz="2400" spc="-5" dirty="0">
                <a:solidFill>
                  <a:srgbClr val="565F6C"/>
                </a:solidFill>
              </a:rPr>
              <a:t>ISTOGRAMS</a:t>
            </a:r>
            <a:r>
              <a:rPr sz="2400" spc="-35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AND</a:t>
            </a:r>
            <a:r>
              <a:rPr sz="2400" spc="160" dirty="0">
                <a:solidFill>
                  <a:srgbClr val="565F6C"/>
                </a:solidFill>
              </a:rPr>
              <a:t> </a:t>
            </a:r>
            <a:r>
              <a:rPr sz="3000" spc="-10" dirty="0">
                <a:solidFill>
                  <a:srgbClr val="565F6C"/>
                </a:solidFill>
              </a:rPr>
              <a:t>H</a:t>
            </a:r>
            <a:r>
              <a:rPr sz="2400" spc="-10" dirty="0">
                <a:solidFill>
                  <a:srgbClr val="565F6C"/>
                </a:solidFill>
              </a:rPr>
              <a:t>ISTOGRAMS </a:t>
            </a:r>
            <a:r>
              <a:rPr sz="2400" spc="-655" dirty="0">
                <a:solidFill>
                  <a:srgbClr val="565F6C"/>
                </a:solidFill>
              </a:rPr>
              <a:t> </a:t>
            </a:r>
            <a:r>
              <a:rPr sz="2400" spc="-15" dirty="0">
                <a:solidFill>
                  <a:srgbClr val="565F6C"/>
                </a:solidFill>
              </a:rPr>
              <a:t>EQUALIZATIONS</a:t>
            </a:r>
            <a:r>
              <a:rPr sz="2400" spc="165" dirty="0">
                <a:solidFill>
                  <a:srgbClr val="565F6C"/>
                </a:solidFill>
              </a:rPr>
              <a:t> </a:t>
            </a:r>
            <a:r>
              <a:rPr sz="3000" spc="-45" dirty="0">
                <a:solidFill>
                  <a:srgbClr val="565F6C"/>
                </a:solidFill>
              </a:rPr>
              <a:t>(</a:t>
            </a:r>
            <a:r>
              <a:rPr sz="2400" spc="-45" dirty="0">
                <a:solidFill>
                  <a:srgbClr val="565F6C"/>
                </a:solidFill>
              </a:rPr>
              <a:t>CONT</a:t>
            </a:r>
            <a:r>
              <a:rPr sz="3000" spc="-45" dirty="0">
                <a:solidFill>
                  <a:srgbClr val="565F6C"/>
                </a:solidFill>
              </a:rPr>
              <a:t>.)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853"/>
            <a:ext cx="6873875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6388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Arial MT"/>
                <a:cs typeface="Arial MT"/>
              </a:rPr>
              <a:t>“Good”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pictures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have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their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histograms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nearly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equally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spread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over</a:t>
            </a:r>
            <a:r>
              <a:rPr sz="2400" dirty="0">
                <a:latin typeface="Arial MT"/>
                <a:cs typeface="Arial MT"/>
              </a:rPr>
              <a:t>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entire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range.</a:t>
            </a:r>
            <a:endParaRPr sz="2400">
              <a:latin typeface="Arial MT"/>
              <a:cs typeface="Arial MT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Arial MT"/>
                <a:cs typeface="Arial MT"/>
              </a:rPr>
              <a:t>However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pictures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this is</a:t>
            </a:r>
            <a:r>
              <a:rPr sz="2400" dirty="0">
                <a:latin typeface="Arial MT"/>
                <a:cs typeface="Arial MT"/>
              </a:rPr>
              <a:t> not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always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case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2" y="3285744"/>
            <a:ext cx="2958084" cy="29519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2671" y="3140964"/>
            <a:ext cx="4317491" cy="31607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434466"/>
            <a:ext cx="5056505" cy="93853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590"/>
              </a:lnSpc>
              <a:spcBef>
                <a:spcPts val="204"/>
              </a:spcBef>
            </a:pPr>
            <a:r>
              <a:rPr sz="3000" spc="-5" dirty="0">
                <a:solidFill>
                  <a:srgbClr val="565F6C"/>
                </a:solidFill>
              </a:rPr>
              <a:t>H</a:t>
            </a:r>
            <a:r>
              <a:rPr sz="2400" spc="-5" dirty="0">
                <a:solidFill>
                  <a:srgbClr val="565F6C"/>
                </a:solidFill>
              </a:rPr>
              <a:t>ISTOGRAMS</a:t>
            </a:r>
            <a:r>
              <a:rPr sz="2400" spc="-35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AND</a:t>
            </a:r>
            <a:r>
              <a:rPr sz="2400" spc="160" dirty="0">
                <a:solidFill>
                  <a:srgbClr val="565F6C"/>
                </a:solidFill>
              </a:rPr>
              <a:t> </a:t>
            </a:r>
            <a:r>
              <a:rPr sz="3000" spc="-10" dirty="0">
                <a:solidFill>
                  <a:srgbClr val="565F6C"/>
                </a:solidFill>
              </a:rPr>
              <a:t>H</a:t>
            </a:r>
            <a:r>
              <a:rPr sz="2400" spc="-10" dirty="0">
                <a:solidFill>
                  <a:srgbClr val="565F6C"/>
                </a:solidFill>
              </a:rPr>
              <a:t>ISTOGRAMS </a:t>
            </a:r>
            <a:r>
              <a:rPr sz="2400" spc="-655" dirty="0">
                <a:solidFill>
                  <a:srgbClr val="565F6C"/>
                </a:solidFill>
              </a:rPr>
              <a:t> </a:t>
            </a:r>
            <a:r>
              <a:rPr sz="2400" spc="-15" dirty="0">
                <a:solidFill>
                  <a:srgbClr val="565F6C"/>
                </a:solidFill>
              </a:rPr>
              <a:t>EQUALIZATIONS</a:t>
            </a:r>
            <a:r>
              <a:rPr sz="2400" spc="165" dirty="0">
                <a:solidFill>
                  <a:srgbClr val="565F6C"/>
                </a:solidFill>
              </a:rPr>
              <a:t> </a:t>
            </a:r>
            <a:r>
              <a:rPr sz="3000" spc="-45" dirty="0">
                <a:solidFill>
                  <a:srgbClr val="565F6C"/>
                </a:solidFill>
              </a:rPr>
              <a:t>(</a:t>
            </a:r>
            <a:r>
              <a:rPr sz="2400" spc="-45" dirty="0">
                <a:solidFill>
                  <a:srgbClr val="565F6C"/>
                </a:solidFill>
              </a:rPr>
              <a:t>CONT</a:t>
            </a:r>
            <a:r>
              <a:rPr sz="3000" spc="-45" dirty="0">
                <a:solidFill>
                  <a:srgbClr val="565F6C"/>
                </a:solidFill>
              </a:rPr>
              <a:t>.)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7378"/>
            <a:ext cx="4929505" cy="1254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6385" algn="l"/>
                <a:tab pos="287020" algn="l"/>
                <a:tab pos="1302385" algn="l"/>
              </a:tabLst>
            </a:pPr>
            <a:r>
              <a:rPr sz="1800" spc="-5" dirty="0">
                <a:latin typeface="Arial MT"/>
                <a:cs typeface="Arial MT"/>
              </a:rPr>
              <a:t>Solution:	Histogram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equalization</a:t>
            </a:r>
            <a:endParaRPr sz="1800">
              <a:latin typeface="Arial MT"/>
              <a:cs typeface="Arial MT"/>
            </a:endParaRPr>
          </a:p>
          <a:p>
            <a:pPr marL="266700">
              <a:lnSpc>
                <a:spcPct val="100000"/>
              </a:lnSpc>
              <a:spcBef>
                <a:spcPts val="1200"/>
              </a:spcBef>
            </a:pPr>
            <a:r>
              <a:rPr sz="1100" dirty="0">
                <a:latin typeface="Arial MT"/>
                <a:cs typeface="Arial MT"/>
              </a:rPr>
              <a:t>(</a:t>
            </a:r>
            <a:r>
              <a:rPr sz="1200" dirty="0">
                <a:latin typeface="Arial MT"/>
                <a:cs typeface="Arial MT"/>
              </a:rPr>
              <a:t>see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theoretical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equations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here:</a:t>
            </a:r>
            <a:endParaRPr sz="1200">
              <a:latin typeface="Arial MT"/>
              <a:cs typeface="Arial MT"/>
            </a:endParaRPr>
          </a:p>
          <a:p>
            <a:pPr marL="312420">
              <a:lnSpc>
                <a:spcPct val="100000"/>
              </a:lnSpc>
              <a:spcBef>
                <a:spcPts val="735"/>
              </a:spcBef>
            </a:pPr>
            <a:r>
              <a:rPr sz="1200" u="sng" spc="-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Arial MT"/>
                <a:cs typeface="Arial MT"/>
                <a:hlinkClick r:id="rId2"/>
              </a:rPr>
              <a:t>http://www.math.uci.edu/icamp/courses/math77c/demos/hist_eq.pdf</a:t>
            </a:r>
            <a:r>
              <a:rPr sz="1200" spc="-5" dirty="0">
                <a:latin typeface="Arial MT"/>
                <a:cs typeface="Arial MT"/>
              </a:rPr>
              <a:t>)</a:t>
            </a:r>
            <a:endParaRPr sz="12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540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openCV: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Calibri"/>
                <a:cs typeface="Calibri"/>
              </a:rPr>
              <a:t>image2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cv2.equalizeHist(image)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7891" y="2997707"/>
            <a:ext cx="1799843" cy="13167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5904" y="4436364"/>
            <a:ext cx="5111496" cy="21610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5567" y="2924555"/>
            <a:ext cx="1872995" cy="13700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235700" y="4392929"/>
            <a:ext cx="1971039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Code: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5"/>
              </a:lnSpc>
            </a:pPr>
            <a:r>
              <a:rPr sz="1800" b="1" spc="-10" dirty="0">
                <a:latin typeface="Calibri"/>
                <a:cs typeface="Calibri"/>
              </a:rPr>
              <a:t>load_and_display.py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434466"/>
            <a:ext cx="5056505" cy="93853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590"/>
              </a:lnSpc>
              <a:spcBef>
                <a:spcPts val="204"/>
              </a:spcBef>
            </a:pPr>
            <a:r>
              <a:rPr sz="3000" spc="-5" dirty="0">
                <a:solidFill>
                  <a:srgbClr val="565F6C"/>
                </a:solidFill>
              </a:rPr>
              <a:t>H</a:t>
            </a:r>
            <a:r>
              <a:rPr sz="2400" spc="-5" dirty="0">
                <a:solidFill>
                  <a:srgbClr val="565F6C"/>
                </a:solidFill>
              </a:rPr>
              <a:t>ISTOGRAMS</a:t>
            </a:r>
            <a:r>
              <a:rPr sz="2400" spc="-35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AND</a:t>
            </a:r>
            <a:r>
              <a:rPr sz="2400" spc="160" dirty="0">
                <a:solidFill>
                  <a:srgbClr val="565F6C"/>
                </a:solidFill>
              </a:rPr>
              <a:t> </a:t>
            </a:r>
            <a:r>
              <a:rPr sz="3000" spc="-10" dirty="0">
                <a:solidFill>
                  <a:srgbClr val="565F6C"/>
                </a:solidFill>
              </a:rPr>
              <a:t>H</a:t>
            </a:r>
            <a:r>
              <a:rPr sz="2400" spc="-10" dirty="0">
                <a:solidFill>
                  <a:srgbClr val="565F6C"/>
                </a:solidFill>
              </a:rPr>
              <a:t>ISTOGRAMS </a:t>
            </a:r>
            <a:r>
              <a:rPr sz="2400" spc="-655" dirty="0">
                <a:solidFill>
                  <a:srgbClr val="565F6C"/>
                </a:solidFill>
              </a:rPr>
              <a:t> </a:t>
            </a:r>
            <a:r>
              <a:rPr sz="2400" spc="-15" dirty="0">
                <a:solidFill>
                  <a:srgbClr val="565F6C"/>
                </a:solidFill>
              </a:rPr>
              <a:t>EQUALIZATIONS</a:t>
            </a:r>
            <a:r>
              <a:rPr sz="2400" spc="165" dirty="0">
                <a:solidFill>
                  <a:srgbClr val="565F6C"/>
                </a:solidFill>
              </a:rPr>
              <a:t> </a:t>
            </a:r>
            <a:r>
              <a:rPr sz="3000" spc="-45" dirty="0">
                <a:solidFill>
                  <a:srgbClr val="565F6C"/>
                </a:solidFill>
              </a:rPr>
              <a:t>(</a:t>
            </a:r>
            <a:r>
              <a:rPr sz="2400" spc="-45" dirty="0">
                <a:solidFill>
                  <a:srgbClr val="565F6C"/>
                </a:solidFill>
              </a:rPr>
              <a:t>CONT</a:t>
            </a:r>
            <a:r>
              <a:rPr sz="3000" spc="-45" dirty="0">
                <a:solidFill>
                  <a:srgbClr val="565F6C"/>
                </a:solidFill>
              </a:rPr>
              <a:t>.)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61517"/>
            <a:ext cx="6422390" cy="154622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dirty="0">
                <a:latin typeface="Arial MT"/>
                <a:cs typeface="Arial MT"/>
              </a:rPr>
              <a:t>On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color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images:</a:t>
            </a:r>
            <a:endParaRPr sz="2400">
              <a:latin typeface="Arial MT"/>
              <a:cs typeface="Arial MT"/>
            </a:endParaRPr>
          </a:p>
          <a:p>
            <a:pPr marL="652780" lvl="1" indent="-275590">
              <a:lnSpc>
                <a:spcPct val="100000"/>
              </a:lnSpc>
              <a:spcBef>
                <a:spcPts val="425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dirty="0">
                <a:latin typeface="Arial MT"/>
                <a:cs typeface="Arial MT"/>
              </a:rPr>
              <a:t>Split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channels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with: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5" dirty="0">
                <a:latin typeface="Calibri"/>
                <a:cs typeface="Calibri"/>
              </a:rPr>
              <a:t>b,g,r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cv2.split(image)</a:t>
            </a:r>
            <a:endParaRPr sz="2000">
              <a:latin typeface="Calibri"/>
              <a:cs typeface="Calibri"/>
            </a:endParaRPr>
          </a:p>
          <a:p>
            <a:pPr marL="652780" lvl="1" indent="-275590">
              <a:lnSpc>
                <a:spcPct val="100000"/>
              </a:lnSpc>
              <a:spcBef>
                <a:spcPts val="54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dirty="0">
                <a:latin typeface="Arial MT"/>
                <a:cs typeface="Arial MT"/>
              </a:rPr>
              <a:t>Equalize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channel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separately</a:t>
            </a:r>
            <a:endParaRPr sz="2000">
              <a:latin typeface="Arial MT"/>
              <a:cs typeface="Arial MT"/>
            </a:endParaRPr>
          </a:p>
          <a:p>
            <a:pPr marL="652780" lvl="1" indent="-275590">
              <a:lnSpc>
                <a:spcPct val="100000"/>
              </a:lnSpc>
              <a:spcBef>
                <a:spcPts val="42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dirty="0">
                <a:latin typeface="Arial MT"/>
                <a:cs typeface="Arial MT"/>
              </a:rPr>
              <a:t>Merge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channels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with: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Calibri"/>
                <a:cs typeface="Calibri"/>
              </a:rPr>
              <a:t>image2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=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cv2.merge((b,g,r)</a:t>
            </a:r>
            <a:r>
              <a:rPr sz="2000" spc="-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45402"/>
            <a:ext cx="460692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000" dirty="0">
                <a:latin typeface="Arial MT"/>
                <a:cs typeface="Arial MT"/>
              </a:rPr>
              <a:t>Code: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100" b="1" spc="-5" dirty="0">
                <a:latin typeface="Arial"/>
                <a:cs typeface="Arial"/>
              </a:rPr>
              <a:t>equalizing_color_images.py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347" y="3140964"/>
            <a:ext cx="5687567" cy="31577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890142"/>
            <a:ext cx="33737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565F6C"/>
                </a:solidFill>
              </a:rPr>
              <a:t>G</a:t>
            </a:r>
            <a:r>
              <a:rPr sz="2400" spc="-5" dirty="0">
                <a:solidFill>
                  <a:srgbClr val="565F6C"/>
                </a:solidFill>
              </a:rPr>
              <a:t>AMMA</a:t>
            </a:r>
            <a:r>
              <a:rPr sz="2400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CORRECTION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549272"/>
            <a:ext cx="7028180" cy="395160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dirty="0">
                <a:latin typeface="Arial MT"/>
                <a:cs typeface="Arial MT"/>
              </a:rPr>
              <a:t>Sometimes</a:t>
            </a:r>
            <a:r>
              <a:rPr sz="2400" spc="-5" dirty="0">
                <a:latin typeface="Arial MT"/>
                <a:cs typeface="Arial MT"/>
              </a:rPr>
              <a:t> images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 </a:t>
            </a:r>
            <a:r>
              <a:rPr sz="2400" dirty="0">
                <a:latin typeface="Arial MT"/>
                <a:cs typeface="Arial MT"/>
              </a:rPr>
              <a:t>too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dark,</a:t>
            </a:r>
            <a:r>
              <a:rPr sz="2400" spc="-5" dirty="0">
                <a:latin typeface="Arial MT"/>
                <a:cs typeface="Arial MT"/>
              </a:rPr>
              <a:t> or</a:t>
            </a:r>
            <a:r>
              <a:rPr sz="2400" dirty="0">
                <a:latin typeface="Arial MT"/>
                <a:cs typeface="Arial MT"/>
              </a:rPr>
              <a:t> too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bright</a:t>
            </a:r>
            <a:endParaRPr sz="2400">
              <a:latin typeface="Arial MT"/>
              <a:cs typeface="Arial MT"/>
            </a:endParaRPr>
          </a:p>
          <a:p>
            <a:pPr marL="286385" marR="325755" indent="-27432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10" dirty="0">
                <a:latin typeface="Arial MT"/>
                <a:cs typeface="Arial MT"/>
              </a:rPr>
              <a:t>Fixing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just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adding/substracting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intensities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produses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bad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results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D8537"/>
              </a:buClr>
              <a:buFont typeface="Wingdings"/>
              <a:buChar char=""/>
            </a:pPr>
            <a:endParaRPr sz="35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Arial MT"/>
                <a:cs typeface="Arial MT"/>
              </a:rPr>
              <a:t>Solution: </a:t>
            </a:r>
            <a:r>
              <a:rPr sz="2400" dirty="0">
                <a:latin typeface="Arial MT"/>
                <a:cs typeface="Arial MT"/>
              </a:rPr>
              <a:t>Gamma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correction</a:t>
            </a:r>
            <a:endParaRPr sz="2400">
              <a:latin typeface="Arial MT"/>
              <a:cs typeface="Arial MT"/>
            </a:endParaRPr>
          </a:p>
          <a:p>
            <a:pPr marL="652780" marR="170180" lvl="1" indent="-27495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-15" dirty="0">
                <a:latin typeface="Arial MT"/>
                <a:cs typeface="Arial MT"/>
              </a:rPr>
              <a:t>Transform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intensities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from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[0,255]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 </a:t>
            </a:r>
            <a:r>
              <a:rPr sz="2100" spc="-5" dirty="0">
                <a:latin typeface="Arial MT"/>
                <a:cs typeface="Arial MT"/>
              </a:rPr>
              <a:t>[0,1]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with a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LUT </a:t>
            </a:r>
            <a:r>
              <a:rPr sz="2100" spc="-57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(look up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table)</a:t>
            </a:r>
            <a:endParaRPr sz="2100">
              <a:latin typeface="Arial MT"/>
              <a:cs typeface="Arial MT"/>
            </a:endParaRPr>
          </a:p>
          <a:p>
            <a:pPr marL="652780" marR="5080" lvl="1" indent="-27495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i="1" spc="-5" dirty="0">
                <a:latin typeface="Arial"/>
                <a:cs typeface="Arial"/>
              </a:rPr>
              <a:t>Apply</a:t>
            </a:r>
            <a:r>
              <a:rPr sz="2100" i="1" spc="-20" dirty="0">
                <a:latin typeface="Arial"/>
                <a:cs typeface="Arial"/>
              </a:rPr>
              <a:t> </a:t>
            </a:r>
            <a:r>
              <a:rPr sz="2100" i="1" spc="-5" dirty="0">
                <a:latin typeface="Arial"/>
                <a:cs typeface="Arial"/>
              </a:rPr>
              <a:t>this to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spc="-5" dirty="0">
                <a:latin typeface="Arial"/>
                <a:cs typeface="Arial"/>
              </a:rPr>
              <a:t>all</a:t>
            </a:r>
            <a:r>
              <a:rPr sz="2100" i="1" dirty="0">
                <a:latin typeface="Arial"/>
                <a:cs typeface="Arial"/>
              </a:rPr>
              <a:t> </a:t>
            </a:r>
            <a:r>
              <a:rPr sz="2100" i="1" spc="-5" dirty="0">
                <a:latin typeface="Arial"/>
                <a:cs typeface="Arial"/>
              </a:rPr>
              <a:t>pixels:</a:t>
            </a:r>
            <a:r>
              <a:rPr sz="2100" i="1" spc="-1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O =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I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spc="-5" dirty="0">
                <a:latin typeface="Arial"/>
                <a:cs typeface="Arial"/>
              </a:rPr>
              <a:t>^</a:t>
            </a:r>
            <a:r>
              <a:rPr sz="2100" i="1" spc="1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(1</a:t>
            </a:r>
            <a:r>
              <a:rPr sz="2100" i="1" spc="1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/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G)</a:t>
            </a:r>
            <a:r>
              <a:rPr sz="2100" i="1" spc="1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(G</a:t>
            </a:r>
            <a:r>
              <a:rPr sz="2100" i="1" spc="20" dirty="0">
                <a:latin typeface="Arial"/>
                <a:cs typeface="Arial"/>
              </a:rPr>
              <a:t> </a:t>
            </a:r>
            <a:r>
              <a:rPr sz="2100" i="1" spc="-5" dirty="0">
                <a:latin typeface="Arial"/>
                <a:cs typeface="Arial"/>
              </a:rPr>
              <a:t>is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spc="-5" dirty="0">
                <a:latin typeface="Arial"/>
                <a:cs typeface="Arial"/>
              </a:rPr>
              <a:t>the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spc="-5" dirty="0">
                <a:latin typeface="Arial"/>
                <a:cs typeface="Arial"/>
              </a:rPr>
              <a:t>gamma </a:t>
            </a:r>
            <a:r>
              <a:rPr sz="2100" i="1" spc="-570" dirty="0">
                <a:latin typeface="Arial"/>
                <a:cs typeface="Arial"/>
              </a:rPr>
              <a:t> </a:t>
            </a:r>
            <a:r>
              <a:rPr sz="2100" i="1" spc="-5" dirty="0">
                <a:latin typeface="Arial"/>
                <a:cs typeface="Arial"/>
              </a:rPr>
              <a:t>value,</a:t>
            </a:r>
            <a:r>
              <a:rPr sz="2100" i="1" spc="-15" dirty="0">
                <a:latin typeface="Arial"/>
                <a:cs typeface="Arial"/>
              </a:rPr>
              <a:t> </a:t>
            </a:r>
            <a:r>
              <a:rPr sz="2100" i="1" spc="-5" dirty="0">
                <a:latin typeface="Arial"/>
                <a:cs typeface="Arial"/>
              </a:rPr>
              <a:t>higher</a:t>
            </a:r>
            <a:r>
              <a:rPr sz="2100" i="1" spc="-1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= </a:t>
            </a:r>
            <a:r>
              <a:rPr sz="2100" i="1" spc="-5" dirty="0">
                <a:latin typeface="Arial"/>
                <a:cs typeface="Arial"/>
              </a:rPr>
              <a:t>brighter)</a:t>
            </a:r>
            <a:endParaRPr sz="2100">
              <a:latin typeface="Arial"/>
              <a:cs typeface="Arial"/>
            </a:endParaRPr>
          </a:p>
          <a:p>
            <a:pPr marL="652780" lvl="1" indent="-275590">
              <a:lnSpc>
                <a:spcPct val="100000"/>
              </a:lnSpc>
              <a:spcBef>
                <a:spcPts val="49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i="1" spc="-25" dirty="0">
                <a:latin typeface="Arial"/>
                <a:cs typeface="Arial"/>
              </a:rPr>
              <a:t>Transform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spc="-5" dirty="0">
                <a:latin typeface="Arial"/>
                <a:cs typeface="Arial"/>
              </a:rPr>
              <a:t>back</a:t>
            </a:r>
            <a:r>
              <a:rPr sz="2100" i="1" dirty="0">
                <a:latin typeface="Arial"/>
                <a:cs typeface="Arial"/>
              </a:rPr>
              <a:t> </a:t>
            </a:r>
            <a:r>
              <a:rPr sz="2100" i="1" spc="-5" dirty="0">
                <a:latin typeface="Arial"/>
                <a:cs typeface="Arial"/>
              </a:rPr>
              <a:t>to</a:t>
            </a:r>
            <a:r>
              <a:rPr sz="2100" i="1" spc="-10" dirty="0">
                <a:latin typeface="Arial"/>
                <a:cs typeface="Arial"/>
              </a:rPr>
              <a:t> </a:t>
            </a:r>
            <a:r>
              <a:rPr sz="2100" i="1" spc="-5" dirty="0">
                <a:latin typeface="Arial"/>
                <a:cs typeface="Arial"/>
              </a:rPr>
              <a:t>[0,255]</a:t>
            </a:r>
            <a:r>
              <a:rPr sz="2100" i="1" spc="10" dirty="0">
                <a:latin typeface="Arial"/>
                <a:cs typeface="Arial"/>
              </a:rPr>
              <a:t> </a:t>
            </a:r>
            <a:r>
              <a:rPr sz="2100" i="1" spc="-5" dirty="0">
                <a:latin typeface="Arial"/>
                <a:cs typeface="Arial"/>
              </a:rPr>
              <a:t>with</a:t>
            </a:r>
            <a:r>
              <a:rPr sz="2100" i="1" spc="-15" dirty="0">
                <a:latin typeface="Arial"/>
                <a:cs typeface="Arial"/>
              </a:rPr>
              <a:t> </a:t>
            </a:r>
            <a:r>
              <a:rPr sz="2100" i="1" spc="-5" dirty="0">
                <a:latin typeface="Arial"/>
                <a:cs typeface="Arial"/>
              </a:rPr>
              <a:t>LUT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890142"/>
            <a:ext cx="46704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565F6C"/>
                </a:solidFill>
              </a:rPr>
              <a:t>G</a:t>
            </a:r>
            <a:r>
              <a:rPr sz="2400" spc="-5" dirty="0">
                <a:solidFill>
                  <a:srgbClr val="565F6C"/>
                </a:solidFill>
              </a:rPr>
              <a:t>AMMA</a:t>
            </a:r>
            <a:r>
              <a:rPr sz="2400" spc="30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CORRECTION</a:t>
            </a:r>
            <a:r>
              <a:rPr sz="2400" spc="180" dirty="0">
                <a:solidFill>
                  <a:srgbClr val="565F6C"/>
                </a:solidFill>
              </a:rPr>
              <a:t> </a:t>
            </a:r>
            <a:r>
              <a:rPr sz="3000" spc="-45" dirty="0">
                <a:solidFill>
                  <a:srgbClr val="565F6C"/>
                </a:solidFill>
              </a:rPr>
              <a:t>(</a:t>
            </a:r>
            <a:r>
              <a:rPr sz="2400" spc="-45" dirty="0">
                <a:solidFill>
                  <a:srgbClr val="565F6C"/>
                </a:solidFill>
              </a:rPr>
              <a:t>CONT</a:t>
            </a:r>
            <a:r>
              <a:rPr sz="3000" spc="-45" dirty="0">
                <a:solidFill>
                  <a:srgbClr val="565F6C"/>
                </a:solidFill>
              </a:rPr>
              <a:t>.)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2" y="3500628"/>
            <a:ext cx="5029200" cy="30967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580270"/>
            <a:ext cx="7655559" cy="25165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70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openCV:</a:t>
            </a:r>
            <a:endParaRPr sz="1800">
              <a:latin typeface="Arial MT"/>
              <a:cs typeface="Arial MT"/>
            </a:endParaRPr>
          </a:p>
          <a:p>
            <a:pPr marL="377825">
              <a:lnSpc>
                <a:spcPct val="100000"/>
              </a:lnSpc>
              <a:spcBef>
                <a:spcPts val="310"/>
              </a:spcBef>
            </a:pPr>
            <a:r>
              <a:rPr sz="1500" b="1" spc="-5" dirty="0">
                <a:latin typeface="Calibri"/>
                <a:cs typeface="Calibri"/>
              </a:rPr>
              <a:t>def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spc="-5" dirty="0">
                <a:latin typeface="Calibri"/>
                <a:cs typeface="Calibri"/>
              </a:rPr>
              <a:t>adjust_gamma</a:t>
            </a:r>
            <a:r>
              <a:rPr sz="1500" spc="-5" dirty="0">
                <a:latin typeface="Calibri"/>
                <a:cs typeface="Calibri"/>
              </a:rPr>
              <a:t>(</a:t>
            </a:r>
            <a:r>
              <a:rPr sz="1500" i="1" spc="-5" dirty="0">
                <a:latin typeface="Calibri"/>
                <a:cs typeface="Calibri"/>
              </a:rPr>
              <a:t>image</a:t>
            </a:r>
            <a:r>
              <a:rPr sz="1500" spc="-5" dirty="0">
                <a:latin typeface="Calibri"/>
                <a:cs typeface="Calibri"/>
              </a:rPr>
              <a:t>,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i="1" spc="-5" dirty="0">
                <a:latin typeface="Calibri"/>
                <a:cs typeface="Calibri"/>
              </a:rPr>
              <a:t>gamma=1.0</a:t>
            </a:r>
            <a:r>
              <a:rPr sz="1500" spc="-5" dirty="0">
                <a:latin typeface="Calibri"/>
                <a:cs typeface="Calibri"/>
              </a:rPr>
              <a:t>)</a:t>
            </a:r>
            <a:r>
              <a:rPr sz="1500" b="1" spc="-5" dirty="0">
                <a:latin typeface="Calibri"/>
                <a:cs typeface="Calibri"/>
              </a:rPr>
              <a:t>:</a:t>
            </a:r>
            <a:endParaRPr sz="150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5"/>
              </a:spcBef>
            </a:pPr>
            <a:r>
              <a:rPr sz="1500" spc="-5" dirty="0">
                <a:latin typeface="Calibri"/>
                <a:cs typeface="Calibri"/>
              </a:rPr>
              <a:t>invGamma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1.0 </a:t>
            </a:r>
            <a:r>
              <a:rPr sz="1500" b="1" dirty="0">
                <a:latin typeface="Calibri"/>
                <a:cs typeface="Calibri"/>
              </a:rPr>
              <a:t>/</a:t>
            </a:r>
            <a:r>
              <a:rPr sz="1500" b="1" spc="-15" dirty="0">
                <a:latin typeface="Calibri"/>
                <a:cs typeface="Calibri"/>
              </a:rPr>
              <a:t> </a:t>
            </a:r>
            <a:r>
              <a:rPr sz="1500" i="1" spc="-5" dirty="0">
                <a:latin typeface="Calibri"/>
                <a:cs typeface="Calibri"/>
              </a:rPr>
              <a:t>gamma</a:t>
            </a:r>
            <a:endParaRPr sz="150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</a:pPr>
            <a:r>
              <a:rPr sz="1500" spc="-5" dirty="0">
                <a:latin typeface="Calibri"/>
                <a:cs typeface="Calibri"/>
              </a:rPr>
              <a:t>table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= </a:t>
            </a:r>
            <a:r>
              <a:rPr sz="1500" spc="-10" dirty="0">
                <a:latin typeface="Calibri"/>
                <a:cs typeface="Calibri"/>
              </a:rPr>
              <a:t>np.array([((i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/</a:t>
            </a:r>
            <a:r>
              <a:rPr sz="1500" b="1" spc="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255.0)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b="1" spc="-5" dirty="0">
                <a:latin typeface="Calibri"/>
                <a:cs typeface="Calibri"/>
              </a:rPr>
              <a:t>**</a:t>
            </a:r>
            <a:r>
              <a:rPr sz="1500" b="1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invGamma)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*</a:t>
            </a:r>
            <a:r>
              <a:rPr sz="1500" b="1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255</a:t>
            </a:r>
            <a:endParaRPr sz="1500">
              <a:latin typeface="Calibri"/>
              <a:cs typeface="Calibri"/>
            </a:endParaRPr>
          </a:p>
          <a:p>
            <a:pPr marL="995680">
              <a:lnSpc>
                <a:spcPct val="100000"/>
              </a:lnSpc>
            </a:pPr>
            <a:r>
              <a:rPr sz="1500" b="1" spc="-10" dirty="0">
                <a:latin typeface="Calibri"/>
                <a:cs typeface="Calibri"/>
              </a:rPr>
              <a:t>for </a:t>
            </a:r>
            <a:r>
              <a:rPr sz="1500" dirty="0">
                <a:latin typeface="Calibri"/>
                <a:cs typeface="Calibri"/>
              </a:rPr>
              <a:t>i </a:t>
            </a:r>
            <a:r>
              <a:rPr sz="1500" b="1" dirty="0">
                <a:latin typeface="Calibri"/>
                <a:cs typeface="Calibri"/>
              </a:rPr>
              <a:t>in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np.arange(0,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256)]).astype("uint8")</a:t>
            </a:r>
            <a:endParaRPr sz="150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</a:pPr>
            <a:r>
              <a:rPr sz="1500" b="1" spc="-10" dirty="0">
                <a:latin typeface="Calibri"/>
                <a:cs typeface="Calibri"/>
              </a:rPr>
              <a:t>return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cv2.LUT(</a:t>
            </a:r>
            <a:r>
              <a:rPr sz="1500" i="1" spc="-5" dirty="0">
                <a:latin typeface="Calibri"/>
                <a:cs typeface="Calibri"/>
              </a:rPr>
              <a:t>image</a:t>
            </a:r>
            <a:r>
              <a:rPr sz="1500" spc="-5" dirty="0">
                <a:latin typeface="Calibri"/>
                <a:cs typeface="Calibri"/>
              </a:rPr>
              <a:t>,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table)</a:t>
            </a:r>
            <a:endParaRPr sz="1500">
              <a:latin typeface="Calibri"/>
              <a:cs typeface="Calibri"/>
            </a:endParaRPr>
          </a:p>
          <a:p>
            <a:pPr marL="377825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Arial MT"/>
                <a:cs typeface="Arial MT"/>
              </a:rPr>
              <a:t>adjusted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=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spc="-5" dirty="0">
                <a:latin typeface="Arial MT"/>
                <a:cs typeface="Arial MT"/>
              </a:rPr>
              <a:t>adjust_gamma(original,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gamma</a:t>
            </a:r>
            <a:r>
              <a:rPr sz="1400" b="1" spc="-5" dirty="0">
                <a:latin typeface="Arial"/>
                <a:cs typeface="Arial"/>
              </a:rPr>
              <a:t>=</a:t>
            </a:r>
            <a:r>
              <a:rPr sz="1400" spc="-5" dirty="0">
                <a:latin typeface="Arial MT"/>
                <a:cs typeface="Arial MT"/>
              </a:rPr>
              <a:t>2)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Arial MT"/>
              <a:cs typeface="Arial MT"/>
            </a:endParaRPr>
          </a:p>
          <a:p>
            <a:pPr marL="5568315">
              <a:lnSpc>
                <a:spcPts val="2135"/>
              </a:lnSpc>
            </a:pPr>
            <a:r>
              <a:rPr sz="1800" spc="-5" dirty="0">
                <a:latin typeface="Arial MT"/>
                <a:cs typeface="Arial MT"/>
              </a:rPr>
              <a:t>Code:</a:t>
            </a:r>
            <a:endParaRPr sz="1800">
              <a:latin typeface="Arial MT"/>
              <a:cs typeface="Arial MT"/>
            </a:endParaRPr>
          </a:p>
          <a:p>
            <a:pPr marL="5568315">
              <a:lnSpc>
                <a:spcPts val="2135"/>
              </a:lnSpc>
            </a:pPr>
            <a:r>
              <a:rPr sz="1800" b="1" spc="-10" dirty="0">
                <a:latin typeface="Calibri"/>
                <a:cs typeface="Calibri"/>
              </a:rPr>
              <a:t>gamma_correction.py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527430"/>
            <a:ext cx="67868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565F6C"/>
                </a:solidFill>
              </a:rPr>
              <a:t>S</a:t>
            </a:r>
            <a:r>
              <a:rPr sz="2150" dirty="0">
                <a:solidFill>
                  <a:srgbClr val="565F6C"/>
                </a:solidFill>
              </a:rPr>
              <a:t>MOOTHING</a:t>
            </a:r>
            <a:r>
              <a:rPr sz="2700" dirty="0">
                <a:solidFill>
                  <a:srgbClr val="565F6C"/>
                </a:solidFill>
              </a:rPr>
              <a:t>,</a:t>
            </a:r>
            <a:r>
              <a:rPr sz="2700" spc="-5" dirty="0">
                <a:solidFill>
                  <a:srgbClr val="565F6C"/>
                </a:solidFill>
              </a:rPr>
              <a:t> </a:t>
            </a:r>
            <a:r>
              <a:rPr sz="2150" spc="5" dirty="0">
                <a:solidFill>
                  <a:srgbClr val="565F6C"/>
                </a:solidFill>
              </a:rPr>
              <a:t>SHARPENING</a:t>
            </a:r>
            <a:r>
              <a:rPr sz="2150" spc="-10" dirty="0">
                <a:solidFill>
                  <a:srgbClr val="565F6C"/>
                </a:solidFill>
              </a:rPr>
              <a:t> </a:t>
            </a:r>
            <a:r>
              <a:rPr sz="2150" spc="5" dirty="0">
                <a:solidFill>
                  <a:srgbClr val="565F6C"/>
                </a:solidFill>
              </a:rPr>
              <a:t>AND</a:t>
            </a:r>
            <a:r>
              <a:rPr sz="2150" spc="155" dirty="0">
                <a:solidFill>
                  <a:srgbClr val="565F6C"/>
                </a:solidFill>
              </a:rPr>
              <a:t> </a:t>
            </a:r>
            <a:r>
              <a:rPr sz="2150" spc="5" dirty="0">
                <a:solidFill>
                  <a:srgbClr val="565F6C"/>
                </a:solidFill>
              </a:rPr>
              <a:t>NOISE</a:t>
            </a:r>
            <a:r>
              <a:rPr sz="2150" spc="140" dirty="0">
                <a:solidFill>
                  <a:srgbClr val="565F6C"/>
                </a:solidFill>
              </a:rPr>
              <a:t> </a:t>
            </a:r>
            <a:r>
              <a:rPr sz="2150" spc="-20" dirty="0">
                <a:solidFill>
                  <a:srgbClr val="565F6C"/>
                </a:solidFill>
              </a:rPr>
              <a:t>REMOVAL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535940" y="1625854"/>
            <a:ext cx="72961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dirty="0">
                <a:latin typeface="Arial MT"/>
                <a:cs typeface="Arial MT"/>
              </a:rPr>
              <a:t>Smoothing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done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applying 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filter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picture,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endParaRPr sz="2000">
              <a:latin typeface="Arial MT"/>
              <a:cs typeface="Arial MT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example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(3x3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kernel):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454730"/>
            <a:ext cx="7255509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131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pixel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averaged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8 neighbors.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Arial MT"/>
              <a:cs typeface="Arial MT"/>
            </a:endParaRPr>
          </a:p>
          <a:p>
            <a:pPr marL="286385" marR="128905" indent="-27432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dirty="0">
                <a:latin typeface="Arial MT"/>
                <a:cs typeface="Arial MT"/>
              </a:rPr>
              <a:t>Gaussian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smoothing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pixel is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averaged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(with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Gaussian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weights)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 8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neighbors.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D8537"/>
              </a:buClr>
              <a:buFont typeface="Wingdings"/>
              <a:buChar char=""/>
            </a:pPr>
            <a:endParaRPr sz="3100">
              <a:latin typeface="Arial MT"/>
              <a:cs typeface="Arial MT"/>
            </a:endParaRPr>
          </a:p>
          <a:p>
            <a:pPr marL="286385" marR="5080" indent="-27432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dirty="0">
                <a:latin typeface="Arial MT"/>
                <a:cs typeface="Arial MT"/>
              </a:rPr>
              <a:t>Median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smoothing: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pixel 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gets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median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him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8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neighbors.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904" y="2241804"/>
            <a:ext cx="2321052" cy="12588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434466"/>
            <a:ext cx="5969000" cy="93853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590"/>
              </a:lnSpc>
              <a:spcBef>
                <a:spcPts val="204"/>
              </a:spcBef>
            </a:pPr>
            <a:r>
              <a:rPr sz="3000" dirty="0">
                <a:solidFill>
                  <a:srgbClr val="565F6C"/>
                </a:solidFill>
              </a:rPr>
              <a:t>S</a:t>
            </a:r>
            <a:r>
              <a:rPr sz="2400" dirty="0">
                <a:solidFill>
                  <a:srgbClr val="565F6C"/>
                </a:solidFill>
              </a:rPr>
              <a:t>MOOTHING</a:t>
            </a:r>
            <a:r>
              <a:rPr sz="3000" dirty="0">
                <a:solidFill>
                  <a:srgbClr val="565F6C"/>
                </a:solidFill>
              </a:rPr>
              <a:t>,</a:t>
            </a:r>
            <a:r>
              <a:rPr sz="3000" spc="-55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SHARPENING</a:t>
            </a:r>
            <a:r>
              <a:rPr sz="2400" spc="30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AND</a:t>
            </a:r>
            <a:r>
              <a:rPr sz="2400" spc="160" dirty="0">
                <a:solidFill>
                  <a:srgbClr val="565F6C"/>
                </a:solidFill>
              </a:rPr>
              <a:t> </a:t>
            </a:r>
            <a:r>
              <a:rPr sz="2400" dirty="0">
                <a:solidFill>
                  <a:srgbClr val="565F6C"/>
                </a:solidFill>
              </a:rPr>
              <a:t>NOISE </a:t>
            </a:r>
            <a:r>
              <a:rPr sz="2400" spc="-650" dirty="0">
                <a:solidFill>
                  <a:srgbClr val="565F6C"/>
                </a:solidFill>
              </a:rPr>
              <a:t> </a:t>
            </a:r>
            <a:r>
              <a:rPr sz="2400" spc="-30" dirty="0">
                <a:solidFill>
                  <a:srgbClr val="565F6C"/>
                </a:solidFill>
              </a:rPr>
              <a:t>REMOVAL</a:t>
            </a:r>
            <a:r>
              <a:rPr sz="2400" spc="90" dirty="0">
                <a:solidFill>
                  <a:srgbClr val="565F6C"/>
                </a:solidFill>
              </a:rPr>
              <a:t> </a:t>
            </a:r>
            <a:r>
              <a:rPr sz="3000" spc="-45" dirty="0">
                <a:solidFill>
                  <a:srgbClr val="565F6C"/>
                </a:solidFill>
              </a:rPr>
              <a:t>(</a:t>
            </a:r>
            <a:r>
              <a:rPr sz="2400" spc="-45" dirty="0">
                <a:solidFill>
                  <a:srgbClr val="565F6C"/>
                </a:solidFill>
              </a:rPr>
              <a:t>CONT</a:t>
            </a:r>
            <a:r>
              <a:rPr sz="3000" spc="-45" dirty="0">
                <a:solidFill>
                  <a:srgbClr val="565F6C"/>
                </a:solidFill>
              </a:rPr>
              <a:t>.)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567" y="3285744"/>
            <a:ext cx="4689348" cy="28788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562716"/>
            <a:ext cx="7932420" cy="225806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9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openCV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(5x5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kernel:</a:t>
            </a:r>
            <a:endParaRPr sz="2400">
              <a:latin typeface="Arial MT"/>
              <a:cs typeface="Arial MT"/>
            </a:endParaRPr>
          </a:p>
          <a:p>
            <a:pPr marL="652780" lvl="1" indent="-275590">
              <a:lnSpc>
                <a:spcPct val="100000"/>
              </a:lnSpc>
              <a:spcBef>
                <a:spcPts val="434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-15" dirty="0">
                <a:latin typeface="Calibri"/>
                <a:cs typeface="Calibri"/>
              </a:rPr>
              <a:t>average_blur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=</a:t>
            </a:r>
            <a:r>
              <a:rPr sz="2100" b="1" spc="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cv2.blur(image,(5,5))</a:t>
            </a:r>
            <a:endParaRPr sz="2100">
              <a:latin typeface="Calibri"/>
              <a:cs typeface="Calibri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-10" dirty="0">
                <a:latin typeface="Calibri"/>
                <a:cs typeface="Calibri"/>
              </a:rPr>
              <a:t>gaussian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=</a:t>
            </a:r>
            <a:r>
              <a:rPr sz="2100" b="1" spc="-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cv2.GaussianBlur(image,(5,5),0)</a:t>
            </a:r>
            <a:endParaRPr sz="2100">
              <a:latin typeface="Calibri"/>
              <a:cs typeface="Calibri"/>
            </a:endParaRPr>
          </a:p>
          <a:p>
            <a:pPr marL="652780" lvl="1" indent="-275590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dirty="0">
                <a:latin typeface="Calibri"/>
                <a:cs typeface="Calibri"/>
              </a:rPr>
              <a:t>median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=</a:t>
            </a:r>
            <a:r>
              <a:rPr sz="2100" b="1" spc="-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cv2.medianBlur(image,5)</a:t>
            </a:r>
            <a:endParaRPr sz="2100">
              <a:latin typeface="Calibri"/>
              <a:cs typeface="Calibri"/>
            </a:endParaRPr>
          </a:p>
          <a:p>
            <a:pPr marL="5496560">
              <a:lnSpc>
                <a:spcPts val="1895"/>
              </a:lnSpc>
              <a:spcBef>
                <a:spcPts val="1395"/>
              </a:spcBef>
            </a:pPr>
            <a:r>
              <a:rPr sz="1600" spc="-10" dirty="0">
                <a:latin typeface="Arial MT"/>
                <a:cs typeface="Arial MT"/>
              </a:rPr>
              <a:t>Code:</a:t>
            </a:r>
            <a:endParaRPr sz="1600">
              <a:latin typeface="Arial MT"/>
              <a:cs typeface="Arial MT"/>
            </a:endParaRPr>
          </a:p>
          <a:p>
            <a:pPr marL="5496560">
              <a:lnSpc>
                <a:spcPts val="1895"/>
              </a:lnSpc>
            </a:pPr>
            <a:r>
              <a:rPr sz="1600" b="1" spc="-5" dirty="0">
                <a:latin typeface="Calibri"/>
                <a:cs typeface="Calibri"/>
              </a:rPr>
              <a:t>smoothing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_and_cleaning.py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434466"/>
            <a:ext cx="5969000" cy="93853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590"/>
              </a:lnSpc>
              <a:spcBef>
                <a:spcPts val="204"/>
              </a:spcBef>
            </a:pPr>
            <a:r>
              <a:rPr sz="3000" dirty="0">
                <a:solidFill>
                  <a:srgbClr val="565F6C"/>
                </a:solidFill>
              </a:rPr>
              <a:t>S</a:t>
            </a:r>
            <a:r>
              <a:rPr sz="2400" dirty="0">
                <a:solidFill>
                  <a:srgbClr val="565F6C"/>
                </a:solidFill>
              </a:rPr>
              <a:t>MOOTHING</a:t>
            </a:r>
            <a:r>
              <a:rPr sz="3000" dirty="0">
                <a:solidFill>
                  <a:srgbClr val="565F6C"/>
                </a:solidFill>
              </a:rPr>
              <a:t>,</a:t>
            </a:r>
            <a:r>
              <a:rPr sz="3000" spc="-55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SHARPENING</a:t>
            </a:r>
            <a:r>
              <a:rPr sz="2400" spc="30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AND</a:t>
            </a:r>
            <a:r>
              <a:rPr sz="2400" spc="160" dirty="0">
                <a:solidFill>
                  <a:srgbClr val="565F6C"/>
                </a:solidFill>
              </a:rPr>
              <a:t> </a:t>
            </a:r>
            <a:r>
              <a:rPr sz="2400" dirty="0">
                <a:solidFill>
                  <a:srgbClr val="565F6C"/>
                </a:solidFill>
              </a:rPr>
              <a:t>NOISE </a:t>
            </a:r>
            <a:r>
              <a:rPr sz="2400" spc="-650" dirty="0">
                <a:solidFill>
                  <a:srgbClr val="565F6C"/>
                </a:solidFill>
              </a:rPr>
              <a:t> </a:t>
            </a:r>
            <a:r>
              <a:rPr sz="2400" spc="-30" dirty="0">
                <a:solidFill>
                  <a:srgbClr val="565F6C"/>
                </a:solidFill>
              </a:rPr>
              <a:t>REMOVAL</a:t>
            </a:r>
            <a:r>
              <a:rPr sz="2400" spc="90" dirty="0">
                <a:solidFill>
                  <a:srgbClr val="565F6C"/>
                </a:solidFill>
              </a:rPr>
              <a:t> </a:t>
            </a:r>
            <a:r>
              <a:rPr sz="3000" spc="-45" dirty="0">
                <a:solidFill>
                  <a:srgbClr val="565F6C"/>
                </a:solidFill>
              </a:rPr>
              <a:t>(</a:t>
            </a:r>
            <a:r>
              <a:rPr sz="2400" spc="-45" dirty="0">
                <a:solidFill>
                  <a:srgbClr val="565F6C"/>
                </a:solidFill>
              </a:rPr>
              <a:t>CONT</a:t>
            </a:r>
            <a:r>
              <a:rPr sz="3000" spc="-45" dirty="0">
                <a:solidFill>
                  <a:srgbClr val="565F6C"/>
                </a:solidFill>
              </a:rPr>
              <a:t>.)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296" y="3212592"/>
            <a:ext cx="5096256" cy="29519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627378"/>
            <a:ext cx="8007350" cy="212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800" b="1" dirty="0">
                <a:latin typeface="Arial"/>
                <a:cs typeface="Arial"/>
              </a:rPr>
              <a:t>Sharpening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Done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subtracting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picture,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Gaussian</a:t>
            </a:r>
            <a:endParaRPr sz="1800">
              <a:latin typeface="Arial MT"/>
              <a:cs typeface="Arial MT"/>
            </a:endParaRPr>
          </a:p>
          <a:p>
            <a:pPr marL="28638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blurred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version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itself</a:t>
            </a:r>
            <a:endParaRPr sz="18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openCV:</a:t>
            </a:r>
            <a:endParaRPr sz="1800">
              <a:latin typeface="Arial MT"/>
              <a:cs typeface="Arial MT"/>
            </a:endParaRPr>
          </a:p>
          <a:p>
            <a:pPr marL="326390">
              <a:lnSpc>
                <a:spcPct val="100000"/>
              </a:lnSpc>
              <a:spcBef>
                <a:spcPts val="530"/>
              </a:spcBef>
            </a:pPr>
            <a:r>
              <a:rPr sz="1800" spc="-5" dirty="0">
                <a:latin typeface="Calibri"/>
                <a:cs typeface="Calibri"/>
              </a:rPr>
              <a:t>gaussian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cv2.GaussianBlur(image,(9,9),10)</a:t>
            </a:r>
            <a:endParaRPr sz="1800">
              <a:latin typeface="Calibri"/>
              <a:cs typeface="Calibri"/>
            </a:endParaRPr>
          </a:p>
          <a:p>
            <a:pPr marL="338455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alibri"/>
                <a:cs typeface="Calibri"/>
              </a:rPr>
              <a:t>sharpened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cv2.addWeighted(image,1.5,gassuian,</a:t>
            </a:r>
            <a:r>
              <a:rPr sz="1800" b="1" spc="-5" dirty="0">
                <a:latin typeface="Calibri"/>
                <a:cs typeface="Calibri"/>
              </a:rPr>
              <a:t>-</a:t>
            </a:r>
            <a:r>
              <a:rPr sz="1800" spc="-5" dirty="0">
                <a:latin typeface="Calibri"/>
                <a:cs typeface="Calibri"/>
              </a:rPr>
              <a:t>0.5,0)</a:t>
            </a:r>
            <a:endParaRPr sz="1800">
              <a:latin typeface="Calibri"/>
              <a:cs typeface="Calibri"/>
            </a:endParaRPr>
          </a:p>
          <a:p>
            <a:pPr marL="5568315">
              <a:lnSpc>
                <a:spcPts val="1895"/>
              </a:lnSpc>
              <a:spcBef>
                <a:spcPts val="770"/>
              </a:spcBef>
            </a:pPr>
            <a:r>
              <a:rPr sz="1600" spc="-10" dirty="0">
                <a:latin typeface="Arial MT"/>
                <a:cs typeface="Arial MT"/>
              </a:rPr>
              <a:t>Code:</a:t>
            </a:r>
            <a:endParaRPr sz="1600">
              <a:latin typeface="Arial MT"/>
              <a:cs typeface="Arial MT"/>
            </a:endParaRPr>
          </a:p>
          <a:p>
            <a:pPr marL="5568315">
              <a:lnSpc>
                <a:spcPts val="1895"/>
              </a:lnSpc>
            </a:pPr>
            <a:r>
              <a:rPr sz="1600" b="1" spc="-5" dirty="0">
                <a:latin typeface="Calibri"/>
                <a:cs typeface="Calibri"/>
              </a:rPr>
              <a:t>smoothing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_and_cleaning.py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434466"/>
            <a:ext cx="5969000" cy="93853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590"/>
              </a:lnSpc>
              <a:spcBef>
                <a:spcPts val="204"/>
              </a:spcBef>
            </a:pPr>
            <a:r>
              <a:rPr sz="3000" dirty="0">
                <a:solidFill>
                  <a:srgbClr val="565F6C"/>
                </a:solidFill>
              </a:rPr>
              <a:t>S</a:t>
            </a:r>
            <a:r>
              <a:rPr sz="2400" dirty="0">
                <a:solidFill>
                  <a:srgbClr val="565F6C"/>
                </a:solidFill>
              </a:rPr>
              <a:t>MOOTHING</a:t>
            </a:r>
            <a:r>
              <a:rPr sz="3000" dirty="0">
                <a:solidFill>
                  <a:srgbClr val="565F6C"/>
                </a:solidFill>
              </a:rPr>
              <a:t>,</a:t>
            </a:r>
            <a:r>
              <a:rPr sz="3000" spc="-55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SHARPENING</a:t>
            </a:r>
            <a:r>
              <a:rPr sz="2400" spc="30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AND</a:t>
            </a:r>
            <a:r>
              <a:rPr sz="2400" spc="160" dirty="0">
                <a:solidFill>
                  <a:srgbClr val="565F6C"/>
                </a:solidFill>
              </a:rPr>
              <a:t> </a:t>
            </a:r>
            <a:r>
              <a:rPr sz="2400" dirty="0">
                <a:solidFill>
                  <a:srgbClr val="565F6C"/>
                </a:solidFill>
              </a:rPr>
              <a:t>NOISE </a:t>
            </a:r>
            <a:r>
              <a:rPr sz="2400" spc="-650" dirty="0">
                <a:solidFill>
                  <a:srgbClr val="565F6C"/>
                </a:solidFill>
              </a:rPr>
              <a:t> </a:t>
            </a:r>
            <a:r>
              <a:rPr sz="2400" spc="-30" dirty="0">
                <a:solidFill>
                  <a:srgbClr val="565F6C"/>
                </a:solidFill>
              </a:rPr>
              <a:t>REMOVAL</a:t>
            </a:r>
            <a:r>
              <a:rPr sz="2400" spc="90" dirty="0">
                <a:solidFill>
                  <a:srgbClr val="565F6C"/>
                </a:solidFill>
              </a:rPr>
              <a:t> </a:t>
            </a:r>
            <a:r>
              <a:rPr sz="3000" spc="-45" dirty="0">
                <a:solidFill>
                  <a:srgbClr val="565F6C"/>
                </a:solidFill>
              </a:rPr>
              <a:t>(</a:t>
            </a:r>
            <a:r>
              <a:rPr sz="2400" spc="-45" dirty="0">
                <a:solidFill>
                  <a:srgbClr val="565F6C"/>
                </a:solidFill>
              </a:rPr>
              <a:t>CONT</a:t>
            </a:r>
            <a:r>
              <a:rPr sz="3000" spc="-45" dirty="0">
                <a:solidFill>
                  <a:srgbClr val="565F6C"/>
                </a:solidFill>
              </a:rPr>
              <a:t>.)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853"/>
            <a:ext cx="72320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Arial MT"/>
                <a:cs typeface="Arial MT"/>
              </a:rPr>
              <a:t>Some</a:t>
            </a:r>
            <a:r>
              <a:rPr sz="2400" dirty="0">
                <a:latin typeface="Arial MT"/>
                <a:cs typeface="Arial MT"/>
              </a:rPr>
              <a:t> types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 </a:t>
            </a:r>
            <a:r>
              <a:rPr sz="2400" spc="-5" dirty="0">
                <a:latin typeface="Arial MT"/>
                <a:cs typeface="Arial MT"/>
              </a:rPr>
              <a:t>noise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(especially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Salt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Pepper)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removed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median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filter </a:t>
            </a:r>
            <a:r>
              <a:rPr sz="2400" spc="-5" dirty="0">
                <a:latin typeface="Arial MT"/>
                <a:cs typeface="Arial MT"/>
              </a:rPr>
              <a:t>(with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small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kernel)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904" y="2852927"/>
            <a:ext cx="7056120" cy="266090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4339" y="5618784"/>
            <a:ext cx="2448560" cy="506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95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Code: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ts val="1895"/>
              </a:lnSpc>
            </a:pPr>
            <a:r>
              <a:rPr sz="1600" b="1" spc="-5" dirty="0">
                <a:latin typeface="Calibri"/>
                <a:cs typeface="Calibri"/>
              </a:rPr>
              <a:t>smoothing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_and_cleaning.py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4466"/>
            <a:ext cx="65957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565F6C"/>
                </a:solidFill>
              </a:rPr>
              <a:t>M</a:t>
            </a:r>
            <a:r>
              <a:rPr sz="2400" dirty="0">
                <a:solidFill>
                  <a:srgbClr val="565F6C"/>
                </a:solidFill>
              </a:rPr>
              <a:t>ORPHOLOGICAL</a:t>
            </a:r>
            <a:r>
              <a:rPr sz="2400" spc="40" dirty="0">
                <a:solidFill>
                  <a:srgbClr val="565F6C"/>
                </a:solidFill>
              </a:rPr>
              <a:t> </a:t>
            </a:r>
            <a:r>
              <a:rPr sz="2400" spc="-20" dirty="0">
                <a:solidFill>
                  <a:srgbClr val="565F6C"/>
                </a:solidFill>
              </a:rPr>
              <a:t>OPERATIONS</a:t>
            </a:r>
            <a:r>
              <a:rPr sz="2400" spc="145" dirty="0">
                <a:solidFill>
                  <a:srgbClr val="565F6C"/>
                </a:solidFill>
              </a:rPr>
              <a:t> </a:t>
            </a:r>
            <a:r>
              <a:rPr sz="3000" spc="-5" dirty="0">
                <a:solidFill>
                  <a:srgbClr val="565F6C"/>
                </a:solidFill>
              </a:rPr>
              <a:t>(</a:t>
            </a:r>
            <a:r>
              <a:rPr sz="2400" spc="-5" dirty="0">
                <a:solidFill>
                  <a:srgbClr val="565F6C"/>
                </a:solidFill>
              </a:rPr>
              <a:t>EROSION</a:t>
            </a:r>
            <a:r>
              <a:rPr sz="3000" spc="-5" dirty="0">
                <a:solidFill>
                  <a:srgbClr val="565F6C"/>
                </a:solidFill>
              </a:rPr>
              <a:t>,</a:t>
            </a:r>
            <a:endParaRPr sz="3000"/>
          </a:p>
          <a:p>
            <a:pPr marL="12700">
              <a:lnSpc>
                <a:spcPct val="100000"/>
              </a:lnSpc>
            </a:pPr>
            <a:r>
              <a:rPr sz="2400" spc="-25" dirty="0">
                <a:solidFill>
                  <a:srgbClr val="565F6C"/>
                </a:solidFill>
              </a:rPr>
              <a:t>DILATION</a:t>
            </a:r>
            <a:r>
              <a:rPr sz="3000" spc="-25" dirty="0">
                <a:solidFill>
                  <a:srgbClr val="565F6C"/>
                </a:solidFill>
              </a:rPr>
              <a:t>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854"/>
            <a:ext cx="7167880" cy="4142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dirty="0">
                <a:latin typeface="Arial MT"/>
                <a:cs typeface="Arial MT"/>
              </a:rPr>
              <a:t>Morphological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transformations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operations</a:t>
            </a:r>
            <a:endParaRPr sz="2000">
              <a:latin typeface="Arial MT"/>
              <a:cs typeface="Arial MT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shape.</a:t>
            </a:r>
            <a:endParaRPr sz="20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 normally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performed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 binary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images.</a:t>
            </a:r>
            <a:endParaRPr sz="2000">
              <a:latin typeface="Arial MT"/>
              <a:cs typeface="Arial MT"/>
            </a:endParaRPr>
          </a:p>
          <a:p>
            <a:pPr marL="286385" marR="14605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 inputs,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 our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original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image,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second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 </a:t>
            </a:r>
            <a:r>
              <a:rPr sz="2000" b="1" dirty="0">
                <a:latin typeface="Arial"/>
                <a:cs typeface="Arial"/>
              </a:rPr>
              <a:t>structuring element </a:t>
            </a:r>
            <a:r>
              <a:rPr sz="2000" dirty="0">
                <a:latin typeface="Arial MT"/>
                <a:cs typeface="Arial MT"/>
              </a:rPr>
              <a:t>or </a:t>
            </a:r>
            <a:r>
              <a:rPr sz="2000" b="1" dirty="0">
                <a:latin typeface="Arial"/>
                <a:cs typeface="Arial"/>
              </a:rPr>
              <a:t>kernel </a:t>
            </a:r>
            <a:r>
              <a:rPr sz="2000" dirty="0">
                <a:latin typeface="Arial MT"/>
                <a:cs typeface="Arial MT"/>
              </a:rPr>
              <a:t>which decides the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nature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D8537"/>
              </a:buClr>
              <a:buFont typeface="Wingdings"/>
              <a:buChar char=""/>
            </a:pPr>
            <a:endParaRPr sz="31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-35" dirty="0">
                <a:latin typeface="Arial MT"/>
                <a:cs typeface="Arial MT"/>
              </a:rPr>
              <a:t>Two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basic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morphological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operators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Erosion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Dilation</a:t>
            </a:r>
            <a:endParaRPr sz="2000">
              <a:latin typeface="Arial MT"/>
              <a:cs typeface="Arial MT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b="1" dirty="0">
                <a:latin typeface="Arial"/>
                <a:cs typeface="Arial"/>
              </a:rPr>
              <a:t>Erosion: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Match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pixels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kernel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5" dirty="0">
                <a:latin typeface="Arial MT"/>
                <a:cs typeface="Arial MT"/>
              </a:rPr>
              <a:t> 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"/>
                <a:cs typeface="Arial"/>
              </a:rPr>
              <a:t>minimum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286385" marR="20955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b="1" dirty="0">
                <a:latin typeface="Arial"/>
                <a:cs typeface="Arial"/>
              </a:rPr>
              <a:t>Dilation: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Match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pixels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kernel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5" dirty="0">
                <a:latin typeface="Arial MT"/>
                <a:cs typeface="Arial MT"/>
              </a:rPr>
              <a:t> 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maximum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434466"/>
            <a:ext cx="6595745" cy="938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595"/>
              </a:lnSpc>
              <a:spcBef>
                <a:spcPts val="100"/>
              </a:spcBef>
            </a:pPr>
            <a:r>
              <a:rPr sz="3000" dirty="0">
                <a:solidFill>
                  <a:srgbClr val="565F6C"/>
                </a:solidFill>
              </a:rPr>
              <a:t>M</a:t>
            </a:r>
            <a:r>
              <a:rPr sz="2400" dirty="0">
                <a:solidFill>
                  <a:srgbClr val="565F6C"/>
                </a:solidFill>
              </a:rPr>
              <a:t>ORPHOLOGICAL</a:t>
            </a:r>
            <a:r>
              <a:rPr sz="2400" spc="40" dirty="0">
                <a:solidFill>
                  <a:srgbClr val="565F6C"/>
                </a:solidFill>
              </a:rPr>
              <a:t> </a:t>
            </a:r>
            <a:r>
              <a:rPr sz="2400" spc="-20" dirty="0">
                <a:solidFill>
                  <a:srgbClr val="565F6C"/>
                </a:solidFill>
              </a:rPr>
              <a:t>OPERATIONS</a:t>
            </a:r>
            <a:r>
              <a:rPr sz="2400" spc="145" dirty="0">
                <a:solidFill>
                  <a:srgbClr val="565F6C"/>
                </a:solidFill>
              </a:rPr>
              <a:t> </a:t>
            </a:r>
            <a:r>
              <a:rPr sz="3000" spc="-5" dirty="0">
                <a:solidFill>
                  <a:srgbClr val="565F6C"/>
                </a:solidFill>
              </a:rPr>
              <a:t>(</a:t>
            </a:r>
            <a:r>
              <a:rPr sz="2400" spc="-5" dirty="0">
                <a:solidFill>
                  <a:srgbClr val="565F6C"/>
                </a:solidFill>
              </a:rPr>
              <a:t>EROSION</a:t>
            </a:r>
            <a:r>
              <a:rPr sz="3000" spc="-5" dirty="0">
                <a:solidFill>
                  <a:srgbClr val="565F6C"/>
                </a:solidFill>
              </a:rPr>
              <a:t>,</a:t>
            </a:r>
            <a:endParaRPr sz="3000"/>
          </a:p>
          <a:p>
            <a:pPr marL="12700">
              <a:lnSpc>
                <a:spcPts val="3595"/>
              </a:lnSpc>
              <a:tabLst>
                <a:tab pos="1733550" algn="l"/>
              </a:tabLst>
            </a:pPr>
            <a:r>
              <a:rPr sz="2400" spc="-25" dirty="0">
                <a:solidFill>
                  <a:srgbClr val="565F6C"/>
                </a:solidFill>
              </a:rPr>
              <a:t>DILATION</a:t>
            </a:r>
            <a:r>
              <a:rPr sz="3000" spc="-25" dirty="0">
                <a:solidFill>
                  <a:srgbClr val="565F6C"/>
                </a:solidFill>
              </a:rPr>
              <a:t>)	</a:t>
            </a:r>
            <a:r>
              <a:rPr sz="3000" spc="-40" dirty="0">
                <a:solidFill>
                  <a:srgbClr val="565F6C"/>
                </a:solidFill>
              </a:rPr>
              <a:t>(C</a:t>
            </a:r>
            <a:r>
              <a:rPr sz="2400" spc="-40" dirty="0">
                <a:solidFill>
                  <a:srgbClr val="565F6C"/>
                </a:solidFill>
              </a:rPr>
              <a:t>ONT</a:t>
            </a:r>
            <a:r>
              <a:rPr sz="3000" spc="-40" dirty="0">
                <a:solidFill>
                  <a:srgbClr val="565F6C"/>
                </a:solidFill>
              </a:rPr>
              <a:t>.)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62075" y="2426334"/>
            <a:ext cx="3166745" cy="924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eroded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cv2.erode(image,kernel)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dilated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 </a:t>
            </a:r>
            <a:r>
              <a:rPr sz="1800" spc="-10" dirty="0">
                <a:latin typeface="Calibri"/>
                <a:cs typeface="Calibri"/>
              </a:rPr>
              <a:t>cv2.dilate(image,kernel)</a:t>
            </a:r>
            <a:endParaRPr sz="1800">
              <a:latin typeface="Calibri"/>
              <a:cs typeface="Calibri"/>
            </a:endParaRPr>
          </a:p>
          <a:p>
            <a:pPr marL="151511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Calibri"/>
                <a:cs typeface="Calibri"/>
              </a:rPr>
              <a:t>Original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422145"/>
            <a:ext cx="4754245" cy="1224915"/>
          </a:xfrm>
          <a:prstGeom prst="rect">
            <a:avLst/>
          </a:prstGeom>
        </p:spPr>
        <p:txBody>
          <a:bodyPr vert="horz" wrap="square" lIns="0" tIns="216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7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dirty="0">
                <a:latin typeface="Arial MT"/>
                <a:cs typeface="Arial MT"/>
              </a:rPr>
              <a:t>On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openCV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(with kernel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" dirty="0">
                <a:latin typeface="Arial MT"/>
                <a:cs typeface="Arial MT"/>
              </a:rPr>
              <a:t> 5x5):</a:t>
            </a:r>
            <a:endParaRPr sz="2400">
              <a:latin typeface="Arial MT"/>
              <a:cs typeface="Arial MT"/>
            </a:endParaRPr>
          </a:p>
          <a:p>
            <a:pPr marL="350520">
              <a:lnSpc>
                <a:spcPts val="1995"/>
              </a:lnSpc>
              <a:spcBef>
                <a:spcPts val="1200"/>
              </a:spcBef>
            </a:pPr>
            <a:r>
              <a:rPr sz="1800" spc="-10" dirty="0">
                <a:latin typeface="Calibri"/>
                <a:cs typeface="Calibri"/>
              </a:rPr>
              <a:t>kernel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np.ones((5,5),np.uint8)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ts val="1755"/>
              </a:lnSpc>
            </a:pPr>
            <a:r>
              <a:rPr sz="1600" spc="-10" dirty="0">
                <a:latin typeface="Arial MT"/>
                <a:cs typeface="Arial MT"/>
              </a:rPr>
              <a:t>Code: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8828" y="3051175"/>
            <a:ext cx="687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E</a:t>
            </a:r>
            <a:r>
              <a:rPr sz="1800" spc="-35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od</a:t>
            </a:r>
            <a:r>
              <a:rPr sz="1800" dirty="0">
                <a:latin typeface="Calibri"/>
                <a:cs typeface="Calibri"/>
              </a:rPr>
              <a:t>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41903" y="4804029"/>
            <a:ext cx="684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5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ed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3267" y="3357371"/>
            <a:ext cx="4680204" cy="14737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0527" y="5085588"/>
            <a:ext cx="2382012" cy="151180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723638" y="2620136"/>
            <a:ext cx="30111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erosion_dialation_inversion.py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0427" y="890142"/>
            <a:ext cx="42875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565F6C"/>
                </a:solidFill>
              </a:rPr>
              <a:t>E</a:t>
            </a:r>
            <a:r>
              <a:rPr sz="2400" dirty="0">
                <a:solidFill>
                  <a:srgbClr val="565F6C"/>
                </a:solidFill>
              </a:rPr>
              <a:t>DGE</a:t>
            </a:r>
            <a:r>
              <a:rPr sz="2400" spc="135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DETECTION</a:t>
            </a:r>
            <a:r>
              <a:rPr sz="2400" spc="160" dirty="0">
                <a:solidFill>
                  <a:srgbClr val="565F6C"/>
                </a:solidFill>
              </a:rPr>
              <a:t> </a:t>
            </a:r>
            <a:r>
              <a:rPr sz="3000" spc="-5" dirty="0">
                <a:solidFill>
                  <a:srgbClr val="565F6C"/>
                </a:solidFill>
              </a:rPr>
              <a:t>(C</a:t>
            </a:r>
            <a:r>
              <a:rPr sz="2400" spc="-5" dirty="0">
                <a:solidFill>
                  <a:srgbClr val="565F6C"/>
                </a:solidFill>
              </a:rPr>
              <a:t>ANNY</a:t>
            </a:r>
            <a:r>
              <a:rPr sz="3000" spc="-5" dirty="0">
                <a:solidFill>
                  <a:srgbClr val="565F6C"/>
                </a:solidFill>
              </a:rPr>
              <a:t>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99946"/>
            <a:ext cx="7255509" cy="460883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86385" marR="147320" indent="-274320">
              <a:lnSpc>
                <a:spcPts val="1939"/>
              </a:lnSpc>
              <a:spcBef>
                <a:spcPts val="345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800" spc="-5" dirty="0">
                <a:latin typeface="Arial MT"/>
                <a:cs typeface="Arial MT"/>
              </a:rPr>
              <a:t>Canny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Edge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Detection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popular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edge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detection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algorithm.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 </a:t>
            </a:r>
            <a:r>
              <a:rPr sz="1800" spc="-15" dirty="0">
                <a:latin typeface="Arial MT"/>
                <a:cs typeface="Arial MT"/>
              </a:rPr>
              <a:t>was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developed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by John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F.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Canny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1986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D8537"/>
              </a:buClr>
              <a:buFont typeface="Wingdings"/>
              <a:buChar char=""/>
            </a:pPr>
            <a:endParaRPr sz="25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9444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800" spc="-5" dirty="0">
                <a:latin typeface="Arial MT"/>
                <a:cs typeface="Arial MT"/>
              </a:rPr>
              <a:t>Does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following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steps:</a:t>
            </a:r>
            <a:endParaRPr sz="1800">
              <a:latin typeface="Arial MT"/>
              <a:cs typeface="Arial MT"/>
            </a:endParaRPr>
          </a:p>
          <a:p>
            <a:pPr marL="652780" lvl="1" indent="-275590">
              <a:lnSpc>
                <a:spcPct val="100000"/>
              </a:lnSpc>
              <a:spcBef>
                <a:spcPts val="200"/>
              </a:spcBef>
              <a:buClr>
                <a:srgbClr val="FD8537"/>
              </a:buClr>
              <a:buSzPct val="7812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600" b="1" spc="-5" dirty="0">
                <a:latin typeface="Arial"/>
                <a:cs typeface="Arial"/>
              </a:rPr>
              <a:t>Cleaning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the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image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by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blurring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it.</a:t>
            </a:r>
            <a:endParaRPr sz="1600">
              <a:latin typeface="Arial"/>
              <a:cs typeface="Arial"/>
            </a:endParaRPr>
          </a:p>
          <a:p>
            <a:pPr marL="652780" lvl="1" indent="-275590">
              <a:lnSpc>
                <a:spcPct val="100000"/>
              </a:lnSpc>
              <a:spcBef>
                <a:spcPts val="190"/>
              </a:spcBef>
              <a:buClr>
                <a:srgbClr val="FD8537"/>
              </a:buClr>
              <a:buSzPct val="7812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600" b="1" spc="-5" dirty="0">
                <a:latin typeface="Arial"/>
                <a:cs typeface="Arial"/>
              </a:rPr>
              <a:t>Finding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Intensity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Gradient</a:t>
            </a:r>
            <a:r>
              <a:rPr sz="1600" b="1" spc="3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of </a:t>
            </a:r>
            <a:r>
              <a:rPr sz="1600" b="1" spc="-10" dirty="0">
                <a:latin typeface="Arial"/>
                <a:cs typeface="Arial"/>
              </a:rPr>
              <a:t>the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Image:</a:t>
            </a:r>
            <a:endParaRPr sz="1600">
              <a:latin typeface="Arial"/>
              <a:cs typeface="Arial"/>
            </a:endParaRPr>
          </a:p>
          <a:p>
            <a:pPr marL="652780">
              <a:lnSpc>
                <a:spcPts val="1825"/>
              </a:lnSpc>
              <a:spcBef>
                <a:spcPts val="195"/>
              </a:spcBef>
            </a:pPr>
            <a:r>
              <a:rPr sz="1600" spc="-5" dirty="0">
                <a:latin typeface="Arial MT"/>
                <a:cs typeface="Arial MT"/>
              </a:rPr>
              <a:t>Using Sobel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find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intensities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gradients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 x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y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directions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creates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</a:t>
            </a:r>
            <a:endParaRPr sz="1600">
              <a:latin typeface="Arial MT"/>
              <a:cs typeface="Arial MT"/>
            </a:endParaRPr>
          </a:p>
          <a:p>
            <a:pPr marL="652780">
              <a:lnSpc>
                <a:spcPts val="1825"/>
              </a:lnSpc>
            </a:pPr>
            <a:r>
              <a:rPr sz="1600" spc="-5" dirty="0">
                <a:latin typeface="Arial MT"/>
                <a:cs typeface="Arial MT"/>
              </a:rPr>
              <a:t>picture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gradient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intensities.</a:t>
            </a:r>
            <a:endParaRPr sz="1600">
              <a:latin typeface="Arial MT"/>
              <a:cs typeface="Arial MT"/>
            </a:endParaRPr>
          </a:p>
          <a:p>
            <a:pPr marL="652780" lvl="1" indent="-275590">
              <a:lnSpc>
                <a:spcPct val="100000"/>
              </a:lnSpc>
              <a:spcBef>
                <a:spcPts val="190"/>
              </a:spcBef>
              <a:buClr>
                <a:srgbClr val="FD8537"/>
              </a:buClr>
              <a:buSzPct val="7812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600" b="1" spc="-5" dirty="0">
                <a:latin typeface="Arial"/>
                <a:cs typeface="Arial"/>
              </a:rPr>
              <a:t>Non-maximum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Suppression:</a:t>
            </a:r>
            <a:endParaRPr sz="1600">
              <a:latin typeface="Arial"/>
              <a:cs typeface="Arial"/>
            </a:endParaRPr>
          </a:p>
          <a:p>
            <a:pPr marL="652780" marR="191135">
              <a:lnSpc>
                <a:spcPts val="1730"/>
              </a:lnSpc>
              <a:spcBef>
                <a:spcPts val="409"/>
              </a:spcBef>
            </a:pPr>
            <a:r>
              <a:rPr sz="1600" spc="-5" dirty="0">
                <a:latin typeface="Arial MT"/>
                <a:cs typeface="Arial MT"/>
              </a:rPr>
              <a:t>Suppress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(set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0)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all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pixels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which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are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not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local maximum,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thin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edges.</a:t>
            </a:r>
            <a:endParaRPr sz="1600">
              <a:latin typeface="Arial MT"/>
              <a:cs typeface="Arial MT"/>
            </a:endParaRPr>
          </a:p>
          <a:p>
            <a:pPr marL="652780" lvl="1" indent="-275590">
              <a:lnSpc>
                <a:spcPct val="100000"/>
              </a:lnSpc>
              <a:spcBef>
                <a:spcPts val="165"/>
              </a:spcBef>
              <a:buClr>
                <a:srgbClr val="FD8537"/>
              </a:buClr>
              <a:buSzPct val="7812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600" b="1" spc="-10" dirty="0">
                <a:latin typeface="Arial"/>
                <a:cs typeface="Arial"/>
              </a:rPr>
              <a:t>Hysteresis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Thresholding:</a:t>
            </a:r>
            <a:endParaRPr sz="1600">
              <a:latin typeface="Arial"/>
              <a:cs typeface="Arial"/>
            </a:endParaRPr>
          </a:p>
          <a:p>
            <a:pPr marL="652780" marR="5080">
              <a:lnSpc>
                <a:spcPct val="90000"/>
              </a:lnSpc>
              <a:spcBef>
                <a:spcPts val="384"/>
              </a:spcBef>
            </a:pPr>
            <a:r>
              <a:rPr sz="1600" spc="-5" dirty="0">
                <a:latin typeface="Arial MT"/>
                <a:cs typeface="Arial MT"/>
              </a:rPr>
              <a:t>Any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edges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with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intensity gradient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more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than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i="1" spc="-15" dirty="0">
                <a:latin typeface="Arial"/>
                <a:cs typeface="Arial"/>
              </a:rPr>
              <a:t>maxVal</a:t>
            </a:r>
            <a:r>
              <a:rPr sz="1600" i="1" spc="10" dirty="0">
                <a:latin typeface="Arial"/>
                <a:cs typeface="Arial"/>
              </a:rPr>
              <a:t> </a:t>
            </a:r>
            <a:r>
              <a:rPr sz="1600" spc="-5" dirty="0">
                <a:latin typeface="Arial MT"/>
                <a:cs typeface="Arial MT"/>
              </a:rPr>
              <a:t>are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sure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be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edges </a:t>
            </a:r>
            <a:r>
              <a:rPr sz="1600" spc="-4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 those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below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i="1" spc="-15" dirty="0">
                <a:latin typeface="Arial"/>
                <a:cs typeface="Arial"/>
              </a:rPr>
              <a:t>minVal</a:t>
            </a:r>
            <a:r>
              <a:rPr sz="1600" i="1" spc="10" dirty="0">
                <a:latin typeface="Arial"/>
                <a:cs typeface="Arial"/>
              </a:rPr>
              <a:t> </a:t>
            </a:r>
            <a:r>
              <a:rPr sz="1600" spc="-5" dirty="0">
                <a:latin typeface="Arial MT"/>
                <a:cs typeface="Arial MT"/>
              </a:rPr>
              <a:t>are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sure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non-edges,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so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discarded.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Those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who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lie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between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these </a:t>
            </a:r>
            <a:r>
              <a:rPr sz="1600" spc="-10" dirty="0">
                <a:latin typeface="Arial MT"/>
                <a:cs typeface="Arial MT"/>
              </a:rPr>
              <a:t>two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thresholds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are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classified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edges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or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non-edges 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based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on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their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15" dirty="0">
                <a:latin typeface="Arial MT"/>
                <a:cs typeface="Arial MT"/>
              </a:rPr>
              <a:t>connectivity.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If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they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are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connected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“sure-edge”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pixels,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they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are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considered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part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edges.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Otherwise,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they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are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also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discarded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890142"/>
            <a:ext cx="56407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565F6C"/>
                </a:solidFill>
              </a:rPr>
              <a:t>E</a:t>
            </a:r>
            <a:r>
              <a:rPr sz="2400" dirty="0">
                <a:solidFill>
                  <a:srgbClr val="565F6C"/>
                </a:solidFill>
              </a:rPr>
              <a:t>DGE</a:t>
            </a:r>
            <a:r>
              <a:rPr sz="2400" spc="155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DETECTION</a:t>
            </a:r>
            <a:r>
              <a:rPr sz="2400" spc="180" dirty="0">
                <a:solidFill>
                  <a:srgbClr val="565F6C"/>
                </a:solidFill>
              </a:rPr>
              <a:t> </a:t>
            </a:r>
            <a:r>
              <a:rPr sz="3000" spc="-5" dirty="0">
                <a:solidFill>
                  <a:srgbClr val="565F6C"/>
                </a:solidFill>
              </a:rPr>
              <a:t>(C</a:t>
            </a:r>
            <a:r>
              <a:rPr sz="2400" spc="-5" dirty="0">
                <a:solidFill>
                  <a:srgbClr val="565F6C"/>
                </a:solidFill>
              </a:rPr>
              <a:t>ANNY</a:t>
            </a:r>
            <a:r>
              <a:rPr sz="3000" spc="-5" dirty="0">
                <a:solidFill>
                  <a:srgbClr val="565F6C"/>
                </a:solidFill>
              </a:rPr>
              <a:t>)</a:t>
            </a:r>
            <a:r>
              <a:rPr sz="3000" spc="10" dirty="0">
                <a:solidFill>
                  <a:srgbClr val="565F6C"/>
                </a:solidFill>
              </a:rPr>
              <a:t> </a:t>
            </a:r>
            <a:r>
              <a:rPr sz="3000" spc="-45" dirty="0">
                <a:solidFill>
                  <a:srgbClr val="565F6C"/>
                </a:solidFill>
              </a:rPr>
              <a:t>(C</a:t>
            </a:r>
            <a:r>
              <a:rPr sz="2400" spc="-45" dirty="0">
                <a:solidFill>
                  <a:srgbClr val="565F6C"/>
                </a:solidFill>
              </a:rPr>
              <a:t>ONT</a:t>
            </a:r>
            <a:r>
              <a:rPr sz="3000" spc="-45" dirty="0">
                <a:solidFill>
                  <a:srgbClr val="565F6C"/>
                </a:solidFill>
              </a:rPr>
              <a:t>.)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8269"/>
            <a:ext cx="5208905" cy="115316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3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openCV:</a:t>
            </a:r>
            <a:endParaRPr sz="2000">
              <a:latin typeface="Arial MT"/>
              <a:cs typeface="Arial MT"/>
            </a:endParaRPr>
          </a:p>
          <a:p>
            <a:pPr marL="286385">
              <a:lnSpc>
                <a:spcPct val="100000"/>
              </a:lnSpc>
              <a:spcBef>
                <a:spcPts val="540"/>
              </a:spcBef>
            </a:pPr>
            <a:r>
              <a:rPr sz="2000" dirty="0">
                <a:latin typeface="Calibri"/>
                <a:cs typeface="Calibri"/>
              </a:rPr>
              <a:t>edges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=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cv2.Canny(img,100,200)</a:t>
            </a:r>
            <a:endParaRPr sz="200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  <a:spcBef>
                <a:spcPts val="605"/>
              </a:spcBef>
            </a:pPr>
            <a:r>
              <a:rPr sz="2000" dirty="0">
                <a:latin typeface="Arial MT"/>
                <a:cs typeface="Arial MT"/>
              </a:rPr>
              <a:t>(The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min-val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max-val)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2" y="2852927"/>
            <a:ext cx="5871972" cy="29519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6576" y="5933338"/>
            <a:ext cx="21901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Code: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edge_detection.py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434466"/>
            <a:ext cx="29114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565F6C"/>
                </a:solidFill>
              </a:rPr>
              <a:t>T</a:t>
            </a:r>
            <a:r>
              <a:rPr sz="2400" spc="-5" dirty="0">
                <a:solidFill>
                  <a:srgbClr val="565F6C"/>
                </a:solidFill>
              </a:rPr>
              <a:t>RA</a:t>
            </a:r>
            <a:r>
              <a:rPr sz="2400" spc="-15" dirty="0">
                <a:solidFill>
                  <a:srgbClr val="565F6C"/>
                </a:solidFill>
              </a:rPr>
              <a:t>N</a:t>
            </a:r>
            <a:r>
              <a:rPr sz="2400" dirty="0">
                <a:solidFill>
                  <a:srgbClr val="565F6C"/>
                </a:solidFill>
              </a:rPr>
              <a:t>SFORM</a:t>
            </a:r>
            <a:r>
              <a:rPr sz="2400" spc="-185" dirty="0">
                <a:solidFill>
                  <a:srgbClr val="565F6C"/>
                </a:solidFill>
              </a:rPr>
              <a:t>A</a:t>
            </a:r>
            <a:r>
              <a:rPr sz="2400" dirty="0">
                <a:solidFill>
                  <a:srgbClr val="565F6C"/>
                </a:solidFill>
              </a:rPr>
              <a:t>TI</a:t>
            </a:r>
            <a:r>
              <a:rPr sz="2400" spc="5" dirty="0">
                <a:solidFill>
                  <a:srgbClr val="565F6C"/>
                </a:solidFill>
              </a:rPr>
              <a:t>O</a:t>
            </a:r>
            <a:r>
              <a:rPr sz="2400" spc="-5" dirty="0">
                <a:solidFill>
                  <a:srgbClr val="565F6C"/>
                </a:solidFill>
              </a:rPr>
              <a:t>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174750"/>
            <a:ext cx="7243445" cy="2337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800" b="1" spc="-10" dirty="0">
                <a:latin typeface="Arial"/>
                <a:cs typeface="Arial"/>
              </a:rPr>
              <a:t>Transformation</a:t>
            </a:r>
            <a:r>
              <a:rPr sz="1800" spc="-10" dirty="0">
                <a:latin typeface="Arial MT"/>
                <a:cs typeface="Arial MT"/>
              </a:rPr>
              <a:t>: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Reshape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picture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such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that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gets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4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co-ordinates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from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original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picture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4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new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coordinates,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trasnforms</a:t>
            </a:r>
            <a:r>
              <a:rPr sz="1600" spc="5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picture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so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4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points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(and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all points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between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them)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will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match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new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ones.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har char=""/>
            </a:pPr>
            <a:endParaRPr sz="18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105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600" spc="-5" dirty="0">
                <a:latin typeface="Arial MT"/>
                <a:cs typeface="Arial MT"/>
              </a:rPr>
              <a:t>In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openCV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286385" marR="3274695" indent="46990">
              <a:lnSpc>
                <a:spcPct val="100000"/>
              </a:lnSpc>
              <a:spcBef>
                <a:spcPts val="550"/>
              </a:spcBef>
            </a:pPr>
            <a:r>
              <a:rPr sz="1600" spc="-5" dirty="0">
                <a:latin typeface="Calibri"/>
                <a:cs typeface="Calibri"/>
              </a:rPr>
              <a:t>M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=</a:t>
            </a:r>
            <a:r>
              <a:rPr sz="1600" b="1" spc="2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cv2.getPerspectiveTransform(pts1,pts2)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dst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=</a:t>
            </a:r>
            <a:r>
              <a:rPr sz="1600" b="1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cv2.warpPerspective(img,M,(257,259))</a:t>
            </a:r>
            <a:endParaRPr sz="160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  <a:spcBef>
                <a:spcPts val="610"/>
              </a:spcBef>
            </a:pPr>
            <a:r>
              <a:rPr sz="1600" spc="-5" dirty="0">
                <a:latin typeface="Arial MT"/>
                <a:cs typeface="Arial MT"/>
              </a:rPr>
              <a:t>(The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last </a:t>
            </a:r>
            <a:r>
              <a:rPr sz="1600" spc="-10" dirty="0">
                <a:latin typeface="Arial MT"/>
                <a:cs typeface="Arial MT"/>
              </a:rPr>
              <a:t>two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numbers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are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 size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new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image)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6130238"/>
            <a:ext cx="47929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Code: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b="1" spc="-5" dirty="0">
                <a:latin typeface="Arial"/>
                <a:cs typeface="Arial"/>
              </a:rPr>
              <a:t>trasnformation_and_adaptive_threshold.py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2" y="3645408"/>
            <a:ext cx="4867656" cy="246583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966342"/>
            <a:ext cx="4050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565F6C"/>
                </a:solidFill>
              </a:rPr>
              <a:t>ADAPTIVE</a:t>
            </a:r>
            <a:r>
              <a:rPr sz="2400" spc="85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THRESHOLDING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5854"/>
            <a:ext cx="7213600" cy="4110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b="1" dirty="0">
                <a:latin typeface="Arial"/>
                <a:cs typeface="Arial"/>
              </a:rPr>
              <a:t>Thresholding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pixel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</a:t>
            </a:r>
            <a:r>
              <a:rPr sz="2000" dirty="0">
                <a:latin typeface="Arial MT"/>
                <a:cs typeface="Arial MT"/>
              </a:rPr>
              <a:t> 255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15" dirty="0">
                <a:latin typeface="Arial MT"/>
                <a:cs typeface="Arial MT"/>
              </a:rPr>
              <a:t> it’s</a:t>
            </a:r>
            <a:r>
              <a:rPr sz="2000" dirty="0">
                <a:latin typeface="Arial MT"/>
                <a:cs typeface="Arial MT"/>
              </a:rPr>
              <a:t> intensity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 above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certain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threshold,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otherwise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0.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Arial MT"/>
              <a:cs typeface="Arial MT"/>
            </a:endParaRPr>
          </a:p>
          <a:p>
            <a:pPr marL="286385" marR="422275" indent="-27432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b="1" spc="-5" dirty="0">
                <a:latin typeface="Arial"/>
                <a:cs typeface="Arial"/>
              </a:rPr>
              <a:t>Simple</a:t>
            </a:r>
            <a:r>
              <a:rPr sz="2000" b="1" dirty="0">
                <a:latin typeface="Arial"/>
                <a:cs typeface="Arial"/>
              </a:rPr>
              <a:t> thresholding: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Threshold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constant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entire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picture.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D8537"/>
              </a:buClr>
              <a:buFont typeface="Wingdings"/>
              <a:buChar char=""/>
            </a:pPr>
            <a:endParaRPr sz="3100">
              <a:latin typeface="Arial MT"/>
              <a:cs typeface="Arial MT"/>
            </a:endParaRPr>
          </a:p>
          <a:p>
            <a:pPr marL="286385" marR="537210" indent="-27432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b="1" spc="-5" dirty="0">
                <a:latin typeface="Arial"/>
                <a:cs typeface="Arial"/>
              </a:rPr>
              <a:t>Adaptive</a:t>
            </a:r>
            <a:r>
              <a:rPr sz="2000" b="1" dirty="0">
                <a:latin typeface="Arial"/>
                <a:cs typeface="Arial"/>
              </a:rPr>
              <a:t> thresholding: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Different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thresholds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different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regions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image</a:t>
            </a:r>
            <a:endParaRPr sz="2000">
              <a:latin typeface="Arial MT"/>
              <a:cs typeface="Arial MT"/>
            </a:endParaRPr>
          </a:p>
          <a:p>
            <a:pPr marL="652780" lvl="1" indent="-275590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b="1" dirty="0">
                <a:latin typeface="Arial"/>
                <a:cs typeface="Arial"/>
              </a:rPr>
              <a:t>Mean: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Threshold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 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neighborhood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area.</a:t>
            </a:r>
            <a:endParaRPr sz="2000">
              <a:latin typeface="Arial MT"/>
              <a:cs typeface="Arial MT"/>
            </a:endParaRPr>
          </a:p>
          <a:p>
            <a:pPr marL="652780" marR="704215" lvl="1" indent="-27495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b="1" dirty="0">
                <a:latin typeface="Arial"/>
                <a:cs typeface="Arial"/>
              </a:rPr>
              <a:t>Gaussian: </a:t>
            </a:r>
            <a:r>
              <a:rPr sz="2000" dirty="0">
                <a:latin typeface="Arial MT"/>
                <a:cs typeface="Arial MT"/>
              </a:rPr>
              <a:t>Threshold value is the weighted sum of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neighborhood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weights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Gaussian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15" dirty="0">
                <a:latin typeface="Arial MT"/>
                <a:cs typeface="Arial MT"/>
              </a:rPr>
              <a:t>window.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0142"/>
            <a:ext cx="54044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565F6C"/>
                </a:solidFill>
              </a:rPr>
              <a:t>ADAPTIVE</a:t>
            </a:r>
            <a:r>
              <a:rPr sz="2400" spc="114" dirty="0">
                <a:solidFill>
                  <a:srgbClr val="565F6C"/>
                </a:solidFill>
              </a:rPr>
              <a:t> </a:t>
            </a:r>
            <a:r>
              <a:rPr sz="2400" spc="-5" dirty="0">
                <a:solidFill>
                  <a:srgbClr val="565F6C"/>
                </a:solidFill>
              </a:rPr>
              <a:t>THRESHOLDING</a:t>
            </a:r>
            <a:r>
              <a:rPr sz="2400" spc="190" dirty="0">
                <a:solidFill>
                  <a:srgbClr val="565F6C"/>
                </a:solidFill>
              </a:rPr>
              <a:t> </a:t>
            </a:r>
            <a:r>
              <a:rPr sz="3000" spc="-45" dirty="0">
                <a:solidFill>
                  <a:srgbClr val="565F6C"/>
                </a:solidFill>
              </a:rPr>
              <a:t>(C</a:t>
            </a:r>
            <a:r>
              <a:rPr sz="2400" spc="-45" dirty="0">
                <a:solidFill>
                  <a:srgbClr val="565F6C"/>
                </a:solidFill>
              </a:rPr>
              <a:t>ONT</a:t>
            </a:r>
            <a:r>
              <a:rPr sz="3000" spc="-45" dirty="0">
                <a:solidFill>
                  <a:srgbClr val="565F6C"/>
                </a:solidFill>
              </a:rPr>
              <a:t>.)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06836"/>
            <a:ext cx="7195184" cy="158877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0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openCV:</a:t>
            </a:r>
            <a:endParaRPr sz="1800">
              <a:latin typeface="Arial MT"/>
              <a:cs typeface="Arial MT"/>
            </a:endParaRPr>
          </a:p>
          <a:p>
            <a:pPr marL="288290">
              <a:lnSpc>
                <a:spcPct val="100000"/>
              </a:lnSpc>
              <a:spcBef>
                <a:spcPts val="745"/>
              </a:spcBef>
            </a:pPr>
            <a:r>
              <a:rPr sz="1400" spc="-15" dirty="0">
                <a:latin typeface="Calibri"/>
                <a:cs typeface="Calibri"/>
              </a:rPr>
              <a:t>ret,th1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=</a:t>
            </a:r>
            <a:r>
              <a:rPr sz="1400" b="1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cv2.threshold(dst,127,255,cv2.THRESH_BINARY)</a:t>
            </a:r>
            <a:endParaRPr sz="1400">
              <a:latin typeface="Calibri"/>
              <a:cs typeface="Calibri"/>
            </a:endParaRPr>
          </a:p>
          <a:p>
            <a:pPr marL="286385" marR="303530">
              <a:lnSpc>
                <a:spcPct val="100000"/>
              </a:lnSpc>
              <a:spcBef>
                <a:spcPts val="50"/>
              </a:spcBef>
            </a:pPr>
            <a:r>
              <a:rPr sz="1400" spc="-5" dirty="0">
                <a:latin typeface="Calibri"/>
                <a:cs typeface="Calibri"/>
              </a:rPr>
              <a:t>th2 </a:t>
            </a:r>
            <a:r>
              <a:rPr sz="1400" b="1" dirty="0">
                <a:latin typeface="Calibri"/>
                <a:cs typeface="Calibri"/>
              </a:rPr>
              <a:t>= </a:t>
            </a:r>
            <a:r>
              <a:rPr sz="1400" b="1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cv2.adaptiveThreshold(dst,255,cv2.ADAPTIVE_THRESH_MEAN_C,cv2.THRESH_BINARY,11,2) </a:t>
            </a:r>
            <a:r>
              <a:rPr sz="1400" spc="-5" dirty="0">
                <a:latin typeface="Calibri"/>
                <a:cs typeface="Calibri"/>
              </a:rPr>
              <a:t> th3 </a:t>
            </a:r>
            <a:r>
              <a:rPr sz="1400" b="1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cv2.adaptiveThreshold(dst,255,cv2.ADAPTIVE_THRESH_GAUSSIAN_C,cv2.THRESH_BINARY,11,2)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2" y="3212592"/>
            <a:ext cx="4454652" cy="3429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87746" y="4466031"/>
            <a:ext cx="275082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MT"/>
                <a:cs typeface="Arial MT"/>
              </a:rPr>
              <a:t>Code: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b="1" spc="-5" dirty="0">
                <a:latin typeface="Arial"/>
                <a:cs typeface="Arial"/>
              </a:rPr>
              <a:t>trasn</a:t>
            </a:r>
            <a:r>
              <a:rPr sz="1600" b="1" spc="-15" dirty="0">
                <a:latin typeface="Arial"/>
                <a:cs typeface="Arial"/>
              </a:rPr>
              <a:t>f</a:t>
            </a:r>
            <a:r>
              <a:rPr sz="1600" b="1" spc="-5" dirty="0">
                <a:latin typeface="Arial"/>
                <a:cs typeface="Arial"/>
              </a:rPr>
              <a:t>orma</a:t>
            </a:r>
            <a:r>
              <a:rPr sz="1600" b="1" spc="-1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io</a:t>
            </a:r>
            <a:r>
              <a:rPr sz="1600" b="1" spc="-15" dirty="0">
                <a:latin typeface="Arial"/>
                <a:cs typeface="Arial"/>
              </a:rPr>
              <a:t>n</a:t>
            </a:r>
            <a:r>
              <a:rPr sz="1600" b="1" spc="-5" dirty="0">
                <a:latin typeface="Arial"/>
                <a:cs typeface="Arial"/>
              </a:rPr>
              <a:t>_an</a:t>
            </a:r>
            <a:r>
              <a:rPr sz="1600" b="1" spc="-10" dirty="0">
                <a:latin typeface="Arial"/>
                <a:cs typeface="Arial"/>
              </a:rPr>
              <a:t>d</a:t>
            </a:r>
            <a:r>
              <a:rPr sz="1600" b="1" spc="-5" dirty="0">
                <a:latin typeface="Arial"/>
                <a:cs typeface="Arial"/>
              </a:rPr>
              <a:t>_ada</a:t>
            </a:r>
            <a:r>
              <a:rPr sz="1600" b="1" dirty="0">
                <a:latin typeface="Arial"/>
                <a:cs typeface="Arial"/>
              </a:rPr>
              <a:t>pt</a:t>
            </a:r>
            <a:r>
              <a:rPr sz="1600" b="1" spc="5" dirty="0">
                <a:latin typeface="Arial"/>
                <a:cs typeface="Arial"/>
              </a:rPr>
              <a:t>i</a:t>
            </a:r>
            <a:r>
              <a:rPr sz="1600" b="1" spc="-5" dirty="0">
                <a:latin typeface="Arial"/>
                <a:cs typeface="Arial"/>
              </a:rPr>
              <a:t>v  e_threshold.py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890142"/>
            <a:ext cx="34810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565F6C"/>
                </a:solidFill>
              </a:rPr>
              <a:t>D</a:t>
            </a:r>
            <a:r>
              <a:rPr sz="2400" dirty="0">
                <a:solidFill>
                  <a:srgbClr val="565F6C"/>
                </a:solidFill>
              </a:rPr>
              <a:t>OCUMENT</a:t>
            </a:r>
            <a:r>
              <a:rPr sz="2400" spc="40" dirty="0">
                <a:solidFill>
                  <a:srgbClr val="565F6C"/>
                </a:solidFill>
              </a:rPr>
              <a:t> </a:t>
            </a:r>
            <a:r>
              <a:rPr sz="3000" spc="-5" dirty="0">
                <a:solidFill>
                  <a:srgbClr val="565F6C"/>
                </a:solidFill>
              </a:rPr>
              <a:t>S</a:t>
            </a:r>
            <a:r>
              <a:rPr sz="2400" spc="-5" dirty="0">
                <a:solidFill>
                  <a:srgbClr val="565F6C"/>
                </a:solidFill>
              </a:rPr>
              <a:t>CANNER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437313"/>
            <a:ext cx="5852795" cy="3523615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58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dirty="0">
                <a:latin typeface="Arial MT"/>
                <a:cs typeface="Arial MT"/>
              </a:rPr>
              <a:t>Steps:</a:t>
            </a:r>
            <a:endParaRPr sz="2400">
              <a:latin typeface="Arial MT"/>
              <a:cs typeface="Arial MT"/>
            </a:endParaRPr>
          </a:p>
          <a:p>
            <a:pPr marL="652780" lvl="1" indent="-275590">
              <a:lnSpc>
                <a:spcPct val="100000"/>
              </a:lnSpc>
              <a:spcBef>
                <a:spcPts val="129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-5" dirty="0">
                <a:latin typeface="Arial MT"/>
                <a:cs typeface="Arial MT"/>
              </a:rPr>
              <a:t>Edge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detection</a:t>
            </a:r>
            <a:endParaRPr sz="2100">
              <a:latin typeface="Arial MT"/>
              <a:cs typeface="Arial MT"/>
            </a:endParaRPr>
          </a:p>
          <a:p>
            <a:pPr marL="652780" lvl="1" indent="-275590">
              <a:lnSpc>
                <a:spcPct val="100000"/>
              </a:lnSpc>
              <a:spcBef>
                <a:spcPts val="1764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-5" dirty="0">
                <a:latin typeface="Arial MT"/>
                <a:cs typeface="Arial MT"/>
              </a:rPr>
              <a:t>Contour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(find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borders</a:t>
            </a:r>
            <a:endParaRPr sz="2100">
              <a:latin typeface="Arial MT"/>
              <a:cs typeface="Arial MT"/>
            </a:endParaRPr>
          </a:p>
          <a:p>
            <a:pPr marL="652780" lvl="1" indent="-275590">
              <a:lnSpc>
                <a:spcPct val="100000"/>
              </a:lnSpc>
              <a:spcBef>
                <a:spcPts val="1764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-10" dirty="0">
                <a:latin typeface="Arial MT"/>
                <a:cs typeface="Arial MT"/>
              </a:rPr>
              <a:t>Transformation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(So </a:t>
            </a:r>
            <a:r>
              <a:rPr sz="2100" spc="-5" dirty="0">
                <a:latin typeface="Arial MT"/>
                <a:cs typeface="Arial MT"/>
              </a:rPr>
              <a:t>only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document</a:t>
            </a:r>
            <a:r>
              <a:rPr sz="210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remains)</a:t>
            </a:r>
            <a:endParaRPr sz="2100">
              <a:latin typeface="Arial MT"/>
              <a:cs typeface="Arial MT"/>
            </a:endParaRPr>
          </a:p>
          <a:p>
            <a:pPr marL="652780" lvl="1" indent="-275590">
              <a:lnSpc>
                <a:spcPct val="100000"/>
              </a:lnSpc>
              <a:spcBef>
                <a:spcPts val="1764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-5" dirty="0">
                <a:latin typeface="Arial MT"/>
                <a:cs typeface="Arial MT"/>
              </a:rPr>
              <a:t>Adaptive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thresholding</a:t>
            </a:r>
            <a:endParaRPr sz="21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Clr>
                <a:srgbClr val="FD8537"/>
              </a:buClr>
              <a:buFont typeface="Segoe UI Symbol"/>
              <a:buChar char="⚫"/>
            </a:pPr>
            <a:endParaRPr sz="2300">
              <a:latin typeface="Arial MT"/>
              <a:cs typeface="Arial MT"/>
            </a:endParaRPr>
          </a:p>
          <a:p>
            <a:pPr marL="652780" lvl="1" indent="-275590">
              <a:lnSpc>
                <a:spcPct val="100000"/>
              </a:lnSpc>
              <a:spcBef>
                <a:spcPts val="134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-5" dirty="0">
                <a:latin typeface="Arial MT"/>
                <a:cs typeface="Arial MT"/>
              </a:rPr>
              <a:t>Code: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b="1" spc="-5" dirty="0">
                <a:latin typeface="Arial"/>
                <a:cs typeface="Arial"/>
              </a:rPr>
              <a:t>scan.py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63" y="890142"/>
            <a:ext cx="48361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565F6C"/>
                </a:solidFill>
              </a:rPr>
              <a:t>D</a:t>
            </a:r>
            <a:r>
              <a:rPr sz="2400" dirty="0">
                <a:solidFill>
                  <a:srgbClr val="565F6C"/>
                </a:solidFill>
              </a:rPr>
              <a:t>OCUMENT</a:t>
            </a:r>
            <a:r>
              <a:rPr sz="2400" spc="95" dirty="0">
                <a:solidFill>
                  <a:srgbClr val="565F6C"/>
                </a:solidFill>
              </a:rPr>
              <a:t> </a:t>
            </a:r>
            <a:r>
              <a:rPr sz="3000" spc="-5" dirty="0">
                <a:solidFill>
                  <a:srgbClr val="565F6C"/>
                </a:solidFill>
              </a:rPr>
              <a:t>S</a:t>
            </a:r>
            <a:r>
              <a:rPr sz="2400" spc="-5" dirty="0">
                <a:solidFill>
                  <a:srgbClr val="565F6C"/>
                </a:solidFill>
              </a:rPr>
              <a:t>CANNER</a:t>
            </a:r>
            <a:r>
              <a:rPr sz="2400" spc="180" dirty="0">
                <a:solidFill>
                  <a:srgbClr val="565F6C"/>
                </a:solidFill>
              </a:rPr>
              <a:t> </a:t>
            </a:r>
            <a:r>
              <a:rPr sz="3000" spc="-45" dirty="0">
                <a:solidFill>
                  <a:srgbClr val="565F6C"/>
                </a:solidFill>
              </a:rPr>
              <a:t>(C</a:t>
            </a:r>
            <a:r>
              <a:rPr sz="2400" spc="-45" dirty="0">
                <a:solidFill>
                  <a:srgbClr val="565F6C"/>
                </a:solidFill>
              </a:rPr>
              <a:t>ONT</a:t>
            </a:r>
            <a:r>
              <a:rPr sz="3000" spc="-45" dirty="0">
                <a:solidFill>
                  <a:srgbClr val="565F6C"/>
                </a:solidFill>
              </a:rPr>
              <a:t>.)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868" y="2348483"/>
            <a:ext cx="7776972" cy="25923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8540" y="1656079"/>
            <a:ext cx="4639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7864" algn="l"/>
                <a:tab pos="3813175" algn="l"/>
              </a:tabLst>
            </a:pPr>
            <a:r>
              <a:rPr sz="1800" spc="-5" dirty="0">
                <a:latin typeface="Arial MT"/>
                <a:cs typeface="Arial MT"/>
              </a:rPr>
              <a:t>Original	Edge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detection	Contour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55460" y="1656079"/>
            <a:ext cx="199771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sz="1800" spc="-10" dirty="0">
                <a:latin typeface="Arial MT"/>
                <a:cs typeface="Arial MT"/>
              </a:rPr>
              <a:t>Transformation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Thresholding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3501" y="2688158"/>
            <a:ext cx="4173854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90" dirty="0"/>
              <a:t> </a:t>
            </a:r>
            <a:r>
              <a:rPr dirty="0"/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1440</Words>
  <Application>Microsoft Office PowerPoint</Application>
  <PresentationFormat>On-screen Show (4:3)</PresentationFormat>
  <Paragraphs>166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 MT</vt:lpstr>
      <vt:lpstr>Calibri</vt:lpstr>
      <vt:lpstr>Segoe UI Symbol</vt:lpstr>
      <vt:lpstr>Wingdings</vt:lpstr>
      <vt:lpstr>Office Theme</vt:lpstr>
      <vt:lpstr>PowerPoint Presentation</vt:lpstr>
      <vt:lpstr>OVERVIEW</vt:lpstr>
      <vt:lpstr>RESOURCES</vt:lpstr>
      <vt:lpstr>WORKSHOP OUTLINE (TOPICS)</vt:lpstr>
      <vt:lpstr>LOADING, SHOWING AND SAVING IMAGES</vt:lpstr>
      <vt:lpstr>HISTOGRAMS AND HISTOGRAMS EQUALIZATIONS</vt:lpstr>
      <vt:lpstr>HISTOGRAMS AND HISTOGRAMS  EQUALIZATIONS (CONT.)</vt:lpstr>
      <vt:lpstr>HISTOGRAMS AND HISTOGRAMS  EQUALIZATIONS (CONT.)</vt:lpstr>
      <vt:lpstr>HISTOGRAMS AND HISTOGRAMS  EQUALIZATIONS (CONT.)</vt:lpstr>
      <vt:lpstr>GAMMA CORRECTION</vt:lpstr>
      <vt:lpstr>GAMMA CORRECTION (CONT.)</vt:lpstr>
      <vt:lpstr>SMOOTHING, SHARPENING AND NOISE REMOVAL</vt:lpstr>
      <vt:lpstr>SMOOTHING, SHARPENING AND NOISE  REMOVAL (CONT.)</vt:lpstr>
      <vt:lpstr>SMOOTHING, SHARPENING AND NOISE  REMOVAL (CONT.)</vt:lpstr>
      <vt:lpstr>SMOOTHING, SHARPENING AND NOISE  REMOVAL (CONT.)</vt:lpstr>
      <vt:lpstr>MORPHOLOGICAL OPERATIONS (EROSION, DILATION)</vt:lpstr>
      <vt:lpstr>MORPHOLOGICAL OPERATIONS (EROSION, DILATION) (CONT.)</vt:lpstr>
      <vt:lpstr>EDGE DETECTION (CANNY)</vt:lpstr>
      <vt:lpstr>EDGE DETECTION (CANNY) (CONT.)</vt:lpstr>
      <vt:lpstr>TRANSFORMATION</vt:lpstr>
      <vt:lpstr>ADAPTIVE THRESHOLDING</vt:lpstr>
      <vt:lpstr>ADAPTIVE THRESHOLDING (CONT.)</vt:lpstr>
      <vt:lpstr>DOCUMENT SCANNER</vt:lpstr>
      <vt:lpstr>DOCUMENT SCANNER (CONT.)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Saikamal korlakunta</cp:lastModifiedBy>
  <cp:revision>1</cp:revision>
  <dcterms:created xsi:type="dcterms:W3CDTF">2022-11-27T06:26:47Z</dcterms:created>
  <dcterms:modified xsi:type="dcterms:W3CDTF">2022-11-27T06:52:51Z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2016-07-21T00:00:00Z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2022-11-27T00:00:00Z</vt:filetime>
  </property>
</Properties>
</file>