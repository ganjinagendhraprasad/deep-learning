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0083800" cy="7556500"/>
  <p:notesSz cx="10083800" cy="75565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34029" y="246380"/>
            <a:ext cx="401574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4B18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12570" y="4231640"/>
            <a:ext cx="705866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4B18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4B18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4190" y="1737995"/>
            <a:ext cx="4386453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93157" y="1737995"/>
            <a:ext cx="4386453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4B18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0079990" cy="7556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19424" y="67309"/>
            <a:ext cx="404495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4B18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35660" y="1600199"/>
            <a:ext cx="8412479" cy="1918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28492" y="7027545"/>
            <a:ext cx="3226816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4190" y="7027545"/>
            <a:ext cx="2319274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60336" y="7027545"/>
            <a:ext cx="2319274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Relationship Id="rId4" Type="http://schemas.openxmlformats.org/officeDocument/2006/relationships/image" Target="../media/image26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debayan@uberlabs.net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3510" y="2588259"/>
            <a:ext cx="7253605" cy="69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">
                <a:solidFill>
                  <a:srgbClr val="4B1800"/>
                </a:solidFill>
                <a:latin typeface="Times New Roman"/>
                <a:cs typeface="Times New Roman"/>
              </a:rPr>
              <a:t>Image</a:t>
            </a:r>
            <a:r>
              <a:rPr dirty="0" sz="4400" spc="-15">
                <a:solidFill>
                  <a:srgbClr val="4B1800"/>
                </a:solidFill>
                <a:latin typeface="Times New Roman"/>
                <a:cs typeface="Times New Roman"/>
              </a:rPr>
              <a:t> </a:t>
            </a:r>
            <a:r>
              <a:rPr dirty="0" sz="4400">
                <a:solidFill>
                  <a:srgbClr val="4B1800"/>
                </a:solidFill>
                <a:latin typeface="Times New Roman"/>
                <a:cs typeface="Times New Roman"/>
              </a:rPr>
              <a:t>Processing</a:t>
            </a:r>
            <a:r>
              <a:rPr dirty="0" sz="4400" spc="-15">
                <a:solidFill>
                  <a:srgbClr val="4B1800"/>
                </a:solidFill>
                <a:latin typeface="Times New Roman"/>
                <a:cs typeface="Times New Roman"/>
              </a:rPr>
              <a:t> </a:t>
            </a:r>
            <a:r>
              <a:rPr dirty="0" sz="4400">
                <a:solidFill>
                  <a:srgbClr val="4B1800"/>
                </a:solidFill>
                <a:latin typeface="Times New Roman"/>
                <a:cs typeface="Times New Roman"/>
              </a:rPr>
              <a:t>with</a:t>
            </a:r>
            <a:r>
              <a:rPr dirty="0" sz="4400" spc="-10">
                <a:solidFill>
                  <a:srgbClr val="4B1800"/>
                </a:solidFill>
                <a:latin typeface="Times New Roman"/>
                <a:cs typeface="Times New Roman"/>
              </a:rPr>
              <a:t> </a:t>
            </a:r>
            <a:r>
              <a:rPr dirty="0" sz="4400">
                <a:solidFill>
                  <a:srgbClr val="4B1800"/>
                </a:solidFill>
                <a:latin typeface="Times New Roman"/>
                <a:cs typeface="Times New Roman"/>
              </a:rPr>
              <a:t>OpenCV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07079" y="3581400"/>
            <a:ext cx="3581400" cy="1285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78130">
              <a:lnSpc>
                <a:spcPct val="129200"/>
              </a:lnSpc>
              <a:spcBef>
                <a:spcPts val="95"/>
              </a:spcBef>
            </a:pP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Debayan Banerjee 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Co-founder,</a:t>
            </a:r>
            <a:r>
              <a:rPr dirty="0" sz="3200" spc="-5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Uberlabs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8870" y="247650"/>
            <a:ext cx="279209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I</a:t>
            </a:r>
            <a:r>
              <a:rPr dirty="0" spc="5"/>
              <a:t>n</a:t>
            </a:r>
            <a:r>
              <a:rPr dirty="0" spc="-5"/>
              <a:t>t</a:t>
            </a:r>
            <a:r>
              <a:rPr dirty="0"/>
              <a:t>r</a:t>
            </a:r>
            <a:r>
              <a:rPr dirty="0" spc="5"/>
              <a:t>od</a:t>
            </a:r>
            <a:r>
              <a:rPr dirty="0"/>
              <a:t>u</a:t>
            </a:r>
            <a:r>
              <a:rPr dirty="0" spc="5"/>
              <a:t>c</a:t>
            </a:r>
            <a:r>
              <a:rPr dirty="0" spc="-5"/>
              <a:t>t</a:t>
            </a:r>
            <a:r>
              <a:rPr dirty="0" spc="5"/>
              <a:t>i</a:t>
            </a:r>
            <a:r>
              <a:rPr dirty="0"/>
              <a:t>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7730" y="1121409"/>
            <a:ext cx="8645525" cy="4484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What</a:t>
            </a:r>
            <a:r>
              <a:rPr dirty="0" sz="3200" spc="-1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is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Image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Processing?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0">
              <a:latin typeface="Times New Roman"/>
              <a:cs typeface="Times New Roman"/>
            </a:endParaRPr>
          </a:p>
          <a:p>
            <a:pPr marL="12700" marR="5080">
              <a:lnSpc>
                <a:spcPct val="92600"/>
              </a:lnSpc>
              <a:spcBef>
                <a:spcPts val="2360"/>
              </a:spcBef>
            </a:pP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„any</a:t>
            </a:r>
            <a:r>
              <a:rPr dirty="0" sz="3200" spc="1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form</a:t>
            </a:r>
            <a:r>
              <a:rPr dirty="0" sz="3200" spc="1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of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signal processing</a:t>
            </a:r>
            <a:r>
              <a:rPr dirty="0" sz="3200" spc="2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for</a:t>
            </a:r>
            <a:r>
              <a:rPr dirty="0" sz="3200" spc="1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which</a:t>
            </a:r>
            <a:r>
              <a:rPr dirty="0" sz="3200" spc="2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the</a:t>
            </a:r>
            <a:r>
              <a:rPr dirty="0" sz="3200" spc="1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input is </a:t>
            </a:r>
            <a:r>
              <a:rPr dirty="0" sz="3200" spc="-78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an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image; the</a:t>
            </a:r>
            <a:r>
              <a:rPr dirty="0" sz="3200" spc="1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output of image</a:t>
            </a:r>
            <a:r>
              <a:rPr dirty="0" sz="3200" spc="1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processing</a:t>
            </a:r>
            <a:r>
              <a:rPr dirty="0" sz="3200" spc="2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may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be 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either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an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image</a:t>
            </a:r>
            <a:r>
              <a:rPr dirty="0" sz="3200" spc="1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or a</a:t>
            </a:r>
            <a:r>
              <a:rPr dirty="0" sz="3200" spc="1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set of characteristics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or 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parameters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related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to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the</a:t>
            </a:r>
            <a:r>
              <a:rPr dirty="0" sz="3200" spc="1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image.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Most image- 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processing</a:t>
            </a:r>
            <a:r>
              <a:rPr dirty="0" sz="3200" spc="8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techniques</a:t>
            </a:r>
            <a:r>
              <a:rPr dirty="0" sz="3200" spc="8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involve</a:t>
            </a:r>
            <a:r>
              <a:rPr dirty="0" sz="3200" spc="10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treating</a:t>
            </a:r>
            <a:r>
              <a:rPr dirty="0" sz="3200" spc="9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the</a:t>
            </a:r>
            <a:r>
              <a:rPr dirty="0" sz="3200" spc="8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image</a:t>
            </a:r>
            <a:r>
              <a:rPr dirty="0" sz="3200" spc="9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as 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a</a:t>
            </a:r>
            <a:r>
              <a:rPr dirty="0" sz="3200" spc="1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two-dimensional signal 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and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applying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standard 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signal-processing techniques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to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it“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7790" y="246380"/>
            <a:ext cx="223012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</a:t>
            </a:r>
            <a:r>
              <a:rPr dirty="0" spc="5"/>
              <a:t>x</a:t>
            </a:r>
            <a:r>
              <a:rPr dirty="0" spc="-5"/>
              <a:t>am</a:t>
            </a:r>
            <a:r>
              <a:rPr dirty="0" spc="5"/>
              <a:t>p</a:t>
            </a:r>
            <a:r>
              <a:rPr dirty="0" spc="-5"/>
              <a:t>l</a:t>
            </a:r>
            <a:r>
              <a:rPr dirty="0" spc="5"/>
              <a:t>e</a:t>
            </a:r>
            <a:r>
              <a:rPr dirty="0"/>
              <a:t>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500" y="1564639"/>
            <a:ext cx="8100059" cy="38354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667250" y="5736590"/>
            <a:ext cx="13652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Times New Roman"/>
                <a:cs typeface="Times New Roman"/>
              </a:rPr>
              <a:t>Smoothing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wipe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8109" y="650240"/>
            <a:ext cx="223202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</a:t>
            </a:r>
            <a:r>
              <a:rPr dirty="0" spc="5"/>
              <a:t>xa</a:t>
            </a:r>
            <a:r>
              <a:rPr dirty="0" spc="-5"/>
              <a:t>mp</a:t>
            </a:r>
            <a:r>
              <a:rPr dirty="0" spc="5"/>
              <a:t>le</a:t>
            </a:r>
            <a:r>
              <a:rPr dirty="0"/>
              <a:t>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0430" y="1619250"/>
            <a:ext cx="8608060" cy="392811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127500" y="5916929"/>
            <a:ext cx="24339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Erosion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↔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Dilation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wipe dir="l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39540" y="287019"/>
            <a:ext cx="223012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</a:t>
            </a:r>
            <a:r>
              <a:rPr dirty="0" spc="5"/>
              <a:t>x</a:t>
            </a:r>
            <a:r>
              <a:rPr dirty="0" spc="-5"/>
              <a:t>am</a:t>
            </a:r>
            <a:r>
              <a:rPr dirty="0" spc="5"/>
              <a:t>p</a:t>
            </a:r>
            <a:r>
              <a:rPr dirty="0" spc="-5"/>
              <a:t>l</a:t>
            </a:r>
            <a:r>
              <a:rPr dirty="0" spc="5"/>
              <a:t>e</a:t>
            </a:r>
            <a:r>
              <a:rPr dirty="0"/>
              <a:t>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0180" y="1438910"/>
            <a:ext cx="7528559" cy="43497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486909" y="6254750"/>
            <a:ext cx="18484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Times New Roman"/>
                <a:cs typeface="Times New Roman"/>
              </a:rPr>
              <a:t>Edge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detection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39540" y="336550"/>
            <a:ext cx="223012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</a:t>
            </a:r>
            <a:r>
              <a:rPr dirty="0" spc="5"/>
              <a:t>x</a:t>
            </a:r>
            <a:r>
              <a:rPr dirty="0" spc="-5"/>
              <a:t>am</a:t>
            </a:r>
            <a:r>
              <a:rPr dirty="0" spc="5"/>
              <a:t>p</a:t>
            </a:r>
            <a:r>
              <a:rPr dirty="0" spc="-5"/>
              <a:t>l</a:t>
            </a:r>
            <a:r>
              <a:rPr dirty="0" spc="5"/>
              <a:t>e</a:t>
            </a:r>
            <a:r>
              <a:rPr dirty="0"/>
              <a:t>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450" y="1177289"/>
            <a:ext cx="3147059" cy="47625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17009" y="6276340"/>
            <a:ext cx="26549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Times New Roman"/>
                <a:cs typeface="Times New Roman"/>
              </a:rPr>
              <a:t>Hough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line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transform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39540" y="156209"/>
            <a:ext cx="223012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</a:t>
            </a:r>
            <a:r>
              <a:rPr dirty="0" spc="5"/>
              <a:t>x</a:t>
            </a:r>
            <a:r>
              <a:rPr dirty="0" spc="-5"/>
              <a:t>am</a:t>
            </a:r>
            <a:r>
              <a:rPr dirty="0" spc="5"/>
              <a:t>p</a:t>
            </a:r>
            <a:r>
              <a:rPr dirty="0" spc="-5"/>
              <a:t>l</a:t>
            </a:r>
            <a:r>
              <a:rPr dirty="0" spc="5"/>
              <a:t>e</a:t>
            </a:r>
            <a:r>
              <a:rPr dirty="0"/>
              <a:t>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090" y="1620519"/>
            <a:ext cx="8608060" cy="235331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154170" y="4657090"/>
            <a:ext cx="17989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Face</a:t>
            </a:r>
            <a:r>
              <a:rPr dirty="0" sz="2400" spc="-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detection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96920" y="560070"/>
            <a:ext cx="3491865" cy="69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>
                <a:solidFill>
                  <a:srgbClr val="4B1800"/>
                </a:solidFill>
                <a:latin typeface="Times New Roman"/>
                <a:cs typeface="Times New Roman"/>
              </a:rPr>
              <a:t>Basic</a:t>
            </a:r>
            <a:r>
              <a:rPr dirty="0" sz="4400" spc="-85">
                <a:solidFill>
                  <a:srgbClr val="4B1800"/>
                </a:solidFill>
                <a:latin typeface="Times New Roman"/>
                <a:cs typeface="Times New Roman"/>
              </a:rPr>
              <a:t> </a:t>
            </a:r>
            <a:r>
              <a:rPr dirty="0" sz="4400">
                <a:solidFill>
                  <a:srgbClr val="4B1800"/>
                </a:solidFill>
                <a:latin typeface="Times New Roman"/>
                <a:cs typeface="Times New Roman"/>
              </a:rPr>
              <a:t>Concepts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5339" y="1482090"/>
            <a:ext cx="344424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An</a:t>
            </a:r>
            <a:r>
              <a:rPr dirty="0" sz="3200" spc="-1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image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is</a:t>
            </a:r>
            <a:r>
              <a:rPr dirty="0" sz="3200" spc="-1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a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matrix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0270" y="2160270"/>
            <a:ext cx="6300470" cy="4679950"/>
          </a:xfrm>
          <a:prstGeom prst="rect">
            <a:avLst/>
          </a:prstGeom>
        </p:spPr>
      </p:pic>
    </p:spTree>
  </p:cSld>
  <p:clrMapOvr>
    <a:masterClrMapping/>
  </p:clrMapOvr>
  <p:transition spd="fast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32150" y="471169"/>
            <a:ext cx="3491865" cy="69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">
                <a:solidFill>
                  <a:srgbClr val="4B1800"/>
                </a:solidFill>
                <a:latin typeface="Times New Roman"/>
                <a:cs typeface="Times New Roman"/>
              </a:rPr>
              <a:t>Basic</a:t>
            </a:r>
            <a:r>
              <a:rPr dirty="0" sz="4400" spc="-60">
                <a:solidFill>
                  <a:srgbClr val="4B1800"/>
                </a:solidFill>
                <a:latin typeface="Times New Roman"/>
                <a:cs typeface="Times New Roman"/>
              </a:rPr>
              <a:t> </a:t>
            </a:r>
            <a:r>
              <a:rPr dirty="0" sz="4400">
                <a:solidFill>
                  <a:srgbClr val="4B1800"/>
                </a:solidFill>
                <a:latin typeface="Times New Roman"/>
                <a:cs typeface="Times New Roman"/>
              </a:rPr>
              <a:t>Concepts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5339" y="1301750"/>
            <a:ext cx="767080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A colour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image</a:t>
            </a:r>
            <a:r>
              <a:rPr dirty="0" sz="3200" spc="1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has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 3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2-d matrices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for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R,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G ,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0519" y="2189479"/>
            <a:ext cx="6300470" cy="4470400"/>
          </a:xfrm>
          <a:prstGeom prst="rect">
            <a:avLst/>
          </a:prstGeom>
        </p:spPr>
      </p:pic>
    </p:spTree>
  </p:cSld>
  <p:clrMapOvr>
    <a:masterClrMapping/>
  </p:clrMapOvr>
  <p:transition spd="fast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60420" y="560070"/>
            <a:ext cx="3366135" cy="69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">
                <a:solidFill>
                  <a:srgbClr val="4B1800"/>
                </a:solidFill>
                <a:latin typeface="Times New Roman"/>
                <a:cs typeface="Times New Roman"/>
              </a:rPr>
              <a:t>Basic</a:t>
            </a:r>
            <a:r>
              <a:rPr dirty="0" sz="4400" spc="-65">
                <a:solidFill>
                  <a:srgbClr val="4B1800"/>
                </a:solidFill>
                <a:latin typeface="Times New Roman"/>
                <a:cs typeface="Times New Roman"/>
              </a:rPr>
              <a:t> </a:t>
            </a:r>
            <a:r>
              <a:rPr dirty="0" sz="4400">
                <a:solidFill>
                  <a:srgbClr val="4B1800"/>
                </a:solidFill>
                <a:latin typeface="Times New Roman"/>
                <a:cs typeface="Times New Roman"/>
              </a:rPr>
              <a:t>concepts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5660" y="2045970"/>
            <a:ext cx="147383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E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x</a:t>
            </a:r>
            <a:r>
              <a:rPr dirty="0" sz="3200" spc="10">
                <a:solidFill>
                  <a:srgbClr val="663300"/>
                </a:solidFill>
                <a:latin typeface="Times New Roman"/>
                <a:cs typeface="Times New Roman"/>
              </a:rPr>
              <a:t>am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p</a:t>
            </a:r>
            <a:r>
              <a:rPr dirty="0" sz="3200" spc="-10">
                <a:solidFill>
                  <a:srgbClr val="663300"/>
                </a:solidFill>
                <a:latin typeface="Times New Roman"/>
                <a:cs typeface="Times New Roman"/>
              </a:rPr>
              <a:t>l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339" y="3059429"/>
            <a:ext cx="2880360" cy="27000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39770" y="3059429"/>
            <a:ext cx="6659880" cy="2700020"/>
          </a:xfrm>
          <a:prstGeom prst="rect">
            <a:avLst/>
          </a:prstGeom>
        </p:spPr>
      </p:pic>
    </p:spTree>
  </p:cSld>
  <p:clrMapOvr>
    <a:masterClrMapping/>
  </p:clrMapOvr>
  <p:transition spd="fast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30729" y="875029"/>
            <a:ext cx="6026150" cy="69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">
                <a:solidFill>
                  <a:srgbClr val="4B1800"/>
                </a:solidFill>
                <a:latin typeface="Times New Roman"/>
                <a:cs typeface="Times New Roman"/>
              </a:rPr>
              <a:t>Basic</a:t>
            </a:r>
            <a:r>
              <a:rPr dirty="0" sz="4400" spc="-25">
                <a:solidFill>
                  <a:srgbClr val="4B1800"/>
                </a:solidFill>
                <a:latin typeface="Times New Roman"/>
                <a:cs typeface="Times New Roman"/>
              </a:rPr>
              <a:t> </a:t>
            </a:r>
            <a:r>
              <a:rPr dirty="0" sz="4400">
                <a:solidFill>
                  <a:srgbClr val="4B1800"/>
                </a:solidFill>
                <a:latin typeface="Times New Roman"/>
                <a:cs typeface="Times New Roman"/>
              </a:rPr>
              <a:t>operations:</a:t>
            </a:r>
            <a:r>
              <a:rPr dirty="0" sz="4400" spc="-15">
                <a:solidFill>
                  <a:srgbClr val="4B1800"/>
                </a:solidFill>
                <a:latin typeface="Times New Roman"/>
                <a:cs typeface="Times New Roman"/>
              </a:rPr>
              <a:t> </a:t>
            </a:r>
            <a:r>
              <a:rPr dirty="0" sz="4400">
                <a:solidFill>
                  <a:srgbClr val="4B1800"/>
                </a:solidFill>
                <a:latin typeface="Times New Roman"/>
                <a:cs typeface="Times New Roman"/>
              </a:rPr>
              <a:t>OpenCV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5660" y="2045970"/>
            <a:ext cx="513588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Reading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and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displaying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images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420109"/>
            <a:ext cx="10079990" cy="1652270"/>
          </a:xfrm>
          <a:prstGeom prst="rect">
            <a:avLst/>
          </a:prstGeom>
        </p:spPr>
      </p:pic>
    </p:spTree>
  </p:cSld>
  <p:clrMapOvr>
    <a:masterClrMapping/>
  </p:clrMapOvr>
  <p:transition spd="fast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30729" y="560070"/>
            <a:ext cx="6026150" cy="69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">
                <a:solidFill>
                  <a:srgbClr val="4B1800"/>
                </a:solidFill>
                <a:latin typeface="Times New Roman"/>
                <a:cs typeface="Times New Roman"/>
              </a:rPr>
              <a:t>Basic</a:t>
            </a:r>
            <a:r>
              <a:rPr dirty="0" sz="4400" spc="-25">
                <a:solidFill>
                  <a:srgbClr val="4B1800"/>
                </a:solidFill>
                <a:latin typeface="Times New Roman"/>
                <a:cs typeface="Times New Roman"/>
              </a:rPr>
              <a:t> </a:t>
            </a:r>
            <a:r>
              <a:rPr dirty="0" sz="4400">
                <a:solidFill>
                  <a:srgbClr val="4B1800"/>
                </a:solidFill>
                <a:latin typeface="Times New Roman"/>
                <a:cs typeface="Times New Roman"/>
              </a:rPr>
              <a:t>operations:</a:t>
            </a:r>
            <a:r>
              <a:rPr dirty="0" sz="4400" spc="-15">
                <a:solidFill>
                  <a:srgbClr val="4B1800"/>
                </a:solidFill>
                <a:latin typeface="Times New Roman"/>
                <a:cs typeface="Times New Roman"/>
              </a:rPr>
              <a:t> </a:t>
            </a:r>
            <a:r>
              <a:rPr dirty="0" sz="4400">
                <a:solidFill>
                  <a:srgbClr val="4B1800"/>
                </a:solidFill>
                <a:latin typeface="Times New Roman"/>
                <a:cs typeface="Times New Roman"/>
              </a:rPr>
              <a:t>OpenCV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5660" y="1384300"/>
            <a:ext cx="254825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Writing</a:t>
            </a:r>
            <a:r>
              <a:rPr dirty="0" sz="3200" spc="-6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images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079" y="2096770"/>
            <a:ext cx="9599930" cy="4519930"/>
          </a:xfrm>
          <a:prstGeom prst="rect">
            <a:avLst/>
          </a:prstGeom>
        </p:spPr>
      </p:pic>
    </p:spTree>
  </p:cSld>
  <p:clrMapOvr>
    <a:masterClrMapping/>
  </p:clrMapOvr>
  <p:transition spd="fast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34589" y="471169"/>
            <a:ext cx="5217795" cy="69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>
                <a:solidFill>
                  <a:srgbClr val="4B1800"/>
                </a:solidFill>
                <a:latin typeface="Times New Roman"/>
                <a:cs typeface="Times New Roman"/>
              </a:rPr>
              <a:t>Core</a:t>
            </a:r>
            <a:r>
              <a:rPr dirty="0" sz="4400" spc="-45">
                <a:solidFill>
                  <a:srgbClr val="4B1800"/>
                </a:solidFill>
                <a:latin typeface="Times New Roman"/>
                <a:cs typeface="Times New Roman"/>
              </a:rPr>
              <a:t> </a:t>
            </a:r>
            <a:r>
              <a:rPr dirty="0" sz="4400">
                <a:solidFill>
                  <a:srgbClr val="4B1800"/>
                </a:solidFill>
                <a:latin typeface="Times New Roman"/>
                <a:cs typeface="Times New Roman"/>
              </a:rPr>
              <a:t>module:</a:t>
            </a:r>
            <a:r>
              <a:rPr dirty="0" sz="4400" spc="-35">
                <a:solidFill>
                  <a:srgbClr val="4B1800"/>
                </a:solidFill>
                <a:latin typeface="Times New Roman"/>
                <a:cs typeface="Times New Roman"/>
              </a:rPr>
              <a:t> </a:t>
            </a:r>
            <a:r>
              <a:rPr dirty="0" sz="4400">
                <a:solidFill>
                  <a:srgbClr val="4B1800"/>
                </a:solidFill>
                <a:latin typeface="Times New Roman"/>
                <a:cs typeface="Times New Roman"/>
              </a:rPr>
              <a:t>OpenCV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5660" y="1384300"/>
            <a:ext cx="453390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Accessing</a:t>
            </a:r>
            <a:r>
              <a:rPr dirty="0" sz="3200" spc="-1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individual</a:t>
            </a:r>
            <a:r>
              <a:rPr dirty="0" sz="3200" spc="-1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pixels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" y="3110229"/>
            <a:ext cx="10062210" cy="2493010"/>
          </a:xfrm>
          <a:prstGeom prst="rect">
            <a:avLst/>
          </a:prstGeom>
        </p:spPr>
      </p:pic>
    </p:spTree>
  </p:cSld>
  <p:clrMapOvr>
    <a:masterClrMapping/>
  </p:clrMapOvr>
  <p:transition spd="fast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4589" y="560070"/>
            <a:ext cx="521779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Core</a:t>
            </a:r>
            <a:r>
              <a:rPr dirty="0" spc="-45"/>
              <a:t> </a:t>
            </a:r>
            <a:r>
              <a:rPr dirty="0"/>
              <a:t>module:</a:t>
            </a:r>
            <a:r>
              <a:rPr dirty="0" spc="-35"/>
              <a:t> </a:t>
            </a:r>
            <a:r>
              <a:rPr dirty="0"/>
              <a:t>OpenCV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5660" y="1564640"/>
            <a:ext cx="5875655" cy="303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Contrast and</a:t>
            </a:r>
            <a:r>
              <a:rPr dirty="0" sz="3200" spc="1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Brightness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adjustment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0">
              <a:latin typeface="Times New Roman"/>
              <a:cs typeface="Times New Roman"/>
            </a:endParaRPr>
          </a:p>
          <a:p>
            <a:pPr marL="1748789">
              <a:lnSpc>
                <a:spcPct val="100000"/>
              </a:lnSpc>
              <a:spcBef>
                <a:spcPts val="2075"/>
              </a:spcBef>
            </a:pP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g(x)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=</a:t>
            </a:r>
            <a:r>
              <a:rPr dirty="0" sz="3200" spc="-1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a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f(x)</a:t>
            </a:r>
            <a:r>
              <a:rPr dirty="0" sz="3200" spc="-1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+ b</a:t>
            </a:r>
            <a:endParaRPr sz="3200">
              <a:latin typeface="Times New Roman"/>
              <a:cs typeface="Times New Roman"/>
            </a:endParaRPr>
          </a:p>
          <a:p>
            <a:pPr marL="1748789">
              <a:lnSpc>
                <a:spcPct val="100000"/>
              </a:lnSpc>
              <a:spcBef>
                <a:spcPts val="1130"/>
              </a:spcBef>
            </a:pP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a</a:t>
            </a:r>
            <a:r>
              <a:rPr dirty="0" sz="3200" spc="-1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=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Contrast</a:t>
            </a:r>
            <a:r>
              <a:rPr dirty="0" sz="3200" spc="-2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parameter</a:t>
            </a:r>
            <a:endParaRPr sz="3200">
              <a:latin typeface="Times New Roman"/>
              <a:cs typeface="Times New Roman"/>
            </a:endParaRPr>
          </a:p>
          <a:p>
            <a:pPr marL="1748789">
              <a:lnSpc>
                <a:spcPct val="100000"/>
              </a:lnSpc>
              <a:spcBef>
                <a:spcPts val="1130"/>
              </a:spcBef>
            </a:pP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b</a:t>
            </a:r>
            <a:r>
              <a:rPr dirty="0" sz="3200" spc="-1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= Brightness</a:t>
            </a:r>
            <a:r>
              <a:rPr dirty="0" sz="3200" spc="-1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parameter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4589" y="875029"/>
            <a:ext cx="521779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Core</a:t>
            </a:r>
            <a:r>
              <a:rPr dirty="0" spc="-45"/>
              <a:t> </a:t>
            </a:r>
            <a:r>
              <a:rPr dirty="0"/>
              <a:t>module:</a:t>
            </a:r>
            <a:r>
              <a:rPr dirty="0" spc="-35"/>
              <a:t> </a:t>
            </a:r>
            <a:r>
              <a:rPr dirty="0"/>
              <a:t>OpenCV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5660" y="2045970"/>
            <a:ext cx="542798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Contrast and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Brightness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example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0519" y="3009900"/>
            <a:ext cx="5970270" cy="27495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127500" y="6247129"/>
            <a:ext cx="14966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=2.2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b=50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wipe dir="l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4589" y="560070"/>
            <a:ext cx="521779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Core</a:t>
            </a:r>
            <a:r>
              <a:rPr dirty="0" spc="-45"/>
              <a:t> </a:t>
            </a:r>
            <a:r>
              <a:rPr dirty="0"/>
              <a:t>module:</a:t>
            </a:r>
            <a:r>
              <a:rPr dirty="0" spc="-35"/>
              <a:t> </a:t>
            </a:r>
            <a:r>
              <a:rPr dirty="0"/>
              <a:t>OpenCV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5660" y="1384300"/>
            <a:ext cx="3071495" cy="3670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Drawing</a:t>
            </a:r>
            <a:r>
              <a:rPr dirty="0" sz="3200" spc="-5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functions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4300">
              <a:latin typeface="Times New Roman"/>
              <a:cs typeface="Times New Roman"/>
            </a:endParaRPr>
          </a:p>
          <a:p>
            <a:pPr marL="12700" marR="1690370">
              <a:lnSpc>
                <a:spcPct val="129500"/>
              </a:lnSpc>
            </a:pP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Lines 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Circles 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Ellipses </a:t>
            </a:r>
            <a:r>
              <a:rPr dirty="0" sz="3200" spc="-78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Po</a:t>
            </a:r>
            <a:r>
              <a:rPr dirty="0" sz="3200" spc="-10">
                <a:solidFill>
                  <a:srgbClr val="663300"/>
                </a:solidFill>
                <a:latin typeface="Times New Roman"/>
                <a:cs typeface="Times New Roman"/>
              </a:rPr>
              <a:t>l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ygo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n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wipe dir="l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9270" y="875029"/>
            <a:ext cx="398780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Image</a:t>
            </a:r>
            <a:r>
              <a:rPr dirty="0" spc="-65"/>
              <a:t> </a:t>
            </a:r>
            <a:r>
              <a:rPr dirty="0"/>
              <a:t>Processing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5660" y="1902460"/>
            <a:ext cx="7237095" cy="3181350"/>
          </a:xfrm>
          <a:prstGeom prst="rect">
            <a:avLst/>
          </a:prstGeom>
        </p:spPr>
        <p:txBody>
          <a:bodyPr wrap="square" lIns="0" tIns="1562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Smoothing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–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Removes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noise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ct val="129400"/>
              </a:lnSpc>
            </a:pP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Uses</a:t>
            </a:r>
            <a:r>
              <a:rPr dirty="0" sz="3200" spc="2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filters</a:t>
            </a:r>
            <a:r>
              <a:rPr dirty="0" sz="3200" spc="2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like</a:t>
            </a:r>
            <a:r>
              <a:rPr dirty="0" sz="3200" spc="2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Gaussian,</a:t>
            </a:r>
            <a:r>
              <a:rPr dirty="0" sz="3200" spc="1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Median,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Bilateral </a:t>
            </a:r>
            <a:r>
              <a:rPr dirty="0" sz="3200" spc="-78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medianBlur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( src,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dst, i );</a:t>
            </a:r>
            <a:endParaRPr sz="3200">
              <a:latin typeface="Times New Roman"/>
              <a:cs typeface="Times New Roman"/>
            </a:endParaRPr>
          </a:p>
          <a:p>
            <a:pPr marL="12700" marR="625475">
              <a:lnSpc>
                <a:spcPct val="129400"/>
              </a:lnSpc>
            </a:pP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GaussianBlur(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src, dst,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Size(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i,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i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),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0,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0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); </a:t>
            </a:r>
            <a:r>
              <a:rPr dirty="0" sz="3200" spc="-78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bilateralFilter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(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src, dst, i, i*2, i/2 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);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wipe dir="l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79420" y="560070"/>
            <a:ext cx="3987800" cy="69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">
                <a:solidFill>
                  <a:srgbClr val="4B1800"/>
                </a:solidFill>
                <a:latin typeface="Times New Roman"/>
                <a:cs typeface="Times New Roman"/>
              </a:rPr>
              <a:t>Image</a:t>
            </a:r>
            <a:r>
              <a:rPr dirty="0" sz="4400" spc="-65">
                <a:solidFill>
                  <a:srgbClr val="4B1800"/>
                </a:solidFill>
                <a:latin typeface="Times New Roman"/>
                <a:cs typeface="Times New Roman"/>
              </a:rPr>
              <a:t> </a:t>
            </a:r>
            <a:r>
              <a:rPr dirty="0" sz="4400">
                <a:solidFill>
                  <a:srgbClr val="4B1800"/>
                </a:solidFill>
                <a:latin typeface="Times New Roman"/>
                <a:cs typeface="Times New Roman"/>
              </a:rPr>
              <a:t>Processing</a:t>
            </a:r>
            <a:endParaRPr sz="4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0430" y="2159000"/>
            <a:ext cx="8100059" cy="522097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947159" y="1394459"/>
            <a:ext cx="13658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Times New Roman"/>
                <a:cs typeface="Times New Roman"/>
              </a:rPr>
              <a:t>Smoothing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wipe dir="l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60700" y="113030"/>
            <a:ext cx="398907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Image</a:t>
            </a:r>
            <a:r>
              <a:rPr dirty="0" spc="-80"/>
              <a:t> </a:t>
            </a:r>
            <a:r>
              <a:rPr dirty="0"/>
              <a:t>Processing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7089" y="855980"/>
            <a:ext cx="6770370" cy="1918970"/>
          </a:xfrm>
          <a:prstGeom prst="rect">
            <a:avLst/>
          </a:prstGeom>
        </p:spPr>
        <p:txBody>
          <a:bodyPr wrap="square" lIns="0" tIns="1562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Erosion</a:t>
            </a:r>
            <a:r>
              <a:rPr dirty="0" sz="3200" spc="-2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and</a:t>
            </a:r>
            <a:r>
              <a:rPr dirty="0" sz="3200" spc="-1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Dilation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ct val="129400"/>
              </a:lnSpc>
            </a:pP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Used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to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diminish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or accentuate</a:t>
            </a:r>
            <a:r>
              <a:rPr dirty="0" sz="3200" spc="1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features 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Erode +</a:t>
            </a:r>
            <a:r>
              <a:rPr dirty="0" sz="3200" spc="1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Dilate</a:t>
            </a:r>
            <a:r>
              <a:rPr dirty="0" sz="3200" spc="1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=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Removal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of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stray marks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9450" y="2880360"/>
            <a:ext cx="1066800" cy="14287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59450" y="5219700"/>
            <a:ext cx="1066800" cy="14287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19679" y="2880360"/>
            <a:ext cx="1066799" cy="14287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33650" y="5231129"/>
            <a:ext cx="1066800" cy="142875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3779520" y="3545840"/>
            <a:ext cx="1620520" cy="107950"/>
            <a:chOff x="3779520" y="3545840"/>
            <a:chExt cx="1620520" cy="107950"/>
          </a:xfrm>
        </p:grpSpPr>
        <p:sp>
          <p:nvSpPr>
            <p:cNvPr id="9" name="object 9"/>
            <p:cNvSpPr/>
            <p:nvPr/>
          </p:nvSpPr>
          <p:spPr>
            <a:xfrm>
              <a:off x="5237480" y="354584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60" h="107950">
                  <a:moveTo>
                    <a:pt x="0" y="0"/>
                  </a:moveTo>
                  <a:lnTo>
                    <a:pt x="0" y="107950"/>
                  </a:lnTo>
                  <a:lnTo>
                    <a:pt x="162560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779520" y="3600450"/>
              <a:ext cx="1490980" cy="0"/>
            </a:xfrm>
            <a:custGeom>
              <a:avLst/>
              <a:gdLst/>
              <a:ahLst/>
              <a:cxnLst/>
              <a:rect l="l" t="t" r="r" b="b"/>
              <a:pathLst>
                <a:path w="1490979" h="0">
                  <a:moveTo>
                    <a:pt x="0" y="0"/>
                  </a:moveTo>
                  <a:lnTo>
                    <a:pt x="14909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3779520" y="5886450"/>
            <a:ext cx="1800860" cy="107950"/>
            <a:chOff x="3779520" y="5886450"/>
            <a:chExt cx="1800860" cy="107950"/>
          </a:xfrm>
        </p:grpSpPr>
        <p:sp>
          <p:nvSpPr>
            <p:cNvPr id="12" name="object 12"/>
            <p:cNvSpPr/>
            <p:nvPr/>
          </p:nvSpPr>
          <p:spPr>
            <a:xfrm>
              <a:off x="5417820" y="588645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60" h="107950">
                  <a:moveTo>
                    <a:pt x="0" y="0"/>
                  </a:moveTo>
                  <a:lnTo>
                    <a:pt x="0" y="107950"/>
                  </a:lnTo>
                  <a:lnTo>
                    <a:pt x="162559" y="53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779520" y="5939789"/>
              <a:ext cx="1671320" cy="0"/>
            </a:xfrm>
            <a:custGeom>
              <a:avLst/>
              <a:gdLst/>
              <a:ahLst/>
              <a:cxnLst/>
              <a:rect l="l" t="t" r="r" b="b"/>
              <a:pathLst>
                <a:path w="1671320" h="0">
                  <a:moveTo>
                    <a:pt x="0" y="0"/>
                  </a:moveTo>
                  <a:lnTo>
                    <a:pt x="16713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2813050" y="6057900"/>
            <a:ext cx="4219575" cy="1150620"/>
          </a:xfrm>
          <a:prstGeom prst="rect">
            <a:avLst/>
          </a:prstGeom>
        </p:spPr>
        <p:txBody>
          <a:bodyPr wrap="square" lIns="0" tIns="209550" rIns="0" bIns="0" rtlCol="0" vert="horz">
            <a:spAutoFit/>
          </a:bodyPr>
          <a:lstStyle/>
          <a:p>
            <a:pPr algn="ctr" marR="401320">
              <a:lnSpc>
                <a:spcPct val="100000"/>
              </a:lnSpc>
              <a:spcBef>
                <a:spcPts val="1650"/>
              </a:spcBef>
            </a:pPr>
            <a:r>
              <a:rPr dirty="0" sz="2400">
                <a:latin typeface="Times New Roman"/>
                <a:cs typeface="Times New Roman"/>
              </a:rPr>
              <a:t>Dilation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50"/>
              </a:spcBef>
            </a:pPr>
            <a:r>
              <a:rPr dirty="0" sz="2400">
                <a:latin typeface="Times New Roman"/>
                <a:cs typeface="Times New Roman"/>
              </a:rPr>
              <a:t>dilate(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src,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dilation_dst,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element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);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48610" y="3785870"/>
            <a:ext cx="4182745" cy="1059180"/>
          </a:xfrm>
          <a:prstGeom prst="rect">
            <a:avLst/>
          </a:prstGeom>
        </p:spPr>
        <p:txBody>
          <a:bodyPr wrap="square" lIns="0" tIns="163830" rIns="0" bIns="0" rtlCol="0" vert="horz">
            <a:spAutoFit/>
          </a:bodyPr>
          <a:lstStyle/>
          <a:p>
            <a:pPr algn="ctr" marR="641350">
              <a:lnSpc>
                <a:spcPct val="100000"/>
              </a:lnSpc>
              <a:spcBef>
                <a:spcPts val="1290"/>
              </a:spcBef>
            </a:pPr>
            <a:r>
              <a:rPr dirty="0" sz="2400">
                <a:latin typeface="Times New Roman"/>
                <a:cs typeface="Times New Roman"/>
              </a:rPr>
              <a:t>Erosion</a:t>
            </a: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190"/>
              </a:spcBef>
            </a:pPr>
            <a:r>
              <a:rPr dirty="0" sz="2400">
                <a:latin typeface="Times New Roman"/>
                <a:cs typeface="Times New Roman"/>
              </a:rPr>
              <a:t>erode(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src,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erosion_dst,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element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);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wipe dir="l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9370">
              <a:lnSpc>
                <a:spcPct val="100000"/>
              </a:lnSpc>
              <a:spcBef>
                <a:spcPts val="100"/>
              </a:spcBef>
            </a:pPr>
            <a:r>
              <a:rPr dirty="0"/>
              <a:t>Image</a:t>
            </a:r>
            <a:r>
              <a:rPr dirty="0" spc="-80"/>
              <a:t> </a:t>
            </a:r>
            <a:r>
              <a:rPr dirty="0"/>
              <a:t>Processing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5660" y="1203959"/>
            <a:ext cx="363664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Histogram</a:t>
            </a:r>
            <a:r>
              <a:rPr dirty="0" sz="3200" spc="-4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calculation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9950" y="2542539"/>
            <a:ext cx="3810000" cy="28575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09029" y="2405379"/>
            <a:ext cx="2971800" cy="3175000"/>
          </a:xfrm>
          <a:prstGeom prst="rect">
            <a:avLst/>
          </a:prstGeom>
        </p:spPr>
      </p:pic>
    </p:spTree>
  </p:cSld>
  <p:clrMapOvr>
    <a:masterClrMapping/>
  </p:clrMapOvr>
  <p:transition spd="fast">
    <p:wipe dir="l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5660" y="0"/>
            <a:ext cx="7161530" cy="2068195"/>
          </a:xfrm>
          <a:prstGeom prst="rect"/>
        </p:spPr>
        <p:txBody>
          <a:bodyPr wrap="square" lIns="0" tIns="159385" rIns="0" bIns="0" rtlCol="0" vert="horz">
            <a:spAutoFit/>
          </a:bodyPr>
          <a:lstStyle/>
          <a:p>
            <a:pPr marL="2237740">
              <a:lnSpc>
                <a:spcPct val="100000"/>
              </a:lnSpc>
              <a:spcBef>
                <a:spcPts val="1255"/>
              </a:spcBef>
            </a:pPr>
            <a:r>
              <a:rPr dirty="0"/>
              <a:t>Image</a:t>
            </a:r>
            <a:r>
              <a:rPr dirty="0" spc="-80"/>
              <a:t> </a:t>
            </a:r>
            <a:r>
              <a:rPr dirty="0"/>
              <a:t>Processing</a:t>
            </a:r>
          </a:p>
          <a:p>
            <a:pPr marL="12700" marR="5080">
              <a:lnSpc>
                <a:spcPts val="4970"/>
              </a:lnSpc>
            </a:pPr>
            <a:r>
              <a:rPr dirty="0" sz="3200">
                <a:solidFill>
                  <a:srgbClr val="663300"/>
                </a:solidFill>
              </a:rPr>
              <a:t>Histogram</a:t>
            </a:r>
            <a:r>
              <a:rPr dirty="0" sz="3200" spc="10">
                <a:solidFill>
                  <a:srgbClr val="663300"/>
                </a:solidFill>
              </a:rPr>
              <a:t> </a:t>
            </a:r>
            <a:r>
              <a:rPr dirty="0" sz="3200">
                <a:solidFill>
                  <a:srgbClr val="663300"/>
                </a:solidFill>
              </a:rPr>
              <a:t>equalisation</a:t>
            </a:r>
            <a:r>
              <a:rPr dirty="0" sz="3200" spc="5">
                <a:solidFill>
                  <a:srgbClr val="663300"/>
                </a:solidFill>
              </a:rPr>
              <a:t> </a:t>
            </a:r>
            <a:r>
              <a:rPr dirty="0" sz="3200">
                <a:solidFill>
                  <a:srgbClr val="663300"/>
                </a:solidFill>
              </a:rPr>
              <a:t>–</a:t>
            </a:r>
            <a:r>
              <a:rPr dirty="0" sz="3200" spc="5">
                <a:solidFill>
                  <a:srgbClr val="663300"/>
                </a:solidFill>
              </a:rPr>
              <a:t> </a:t>
            </a:r>
            <a:r>
              <a:rPr dirty="0" sz="3200">
                <a:solidFill>
                  <a:srgbClr val="663300"/>
                </a:solidFill>
              </a:rPr>
              <a:t>Improves</a:t>
            </a:r>
            <a:r>
              <a:rPr dirty="0" sz="3200" spc="5">
                <a:solidFill>
                  <a:srgbClr val="663300"/>
                </a:solidFill>
              </a:rPr>
              <a:t> </a:t>
            </a:r>
            <a:r>
              <a:rPr dirty="0" sz="3200">
                <a:solidFill>
                  <a:srgbClr val="663300"/>
                </a:solidFill>
              </a:rPr>
              <a:t>contrast </a:t>
            </a:r>
            <a:r>
              <a:rPr dirty="0" sz="3200" spc="-785">
                <a:solidFill>
                  <a:srgbClr val="663300"/>
                </a:solidFill>
              </a:rPr>
              <a:t> </a:t>
            </a:r>
            <a:r>
              <a:rPr dirty="0" sz="3200">
                <a:solidFill>
                  <a:srgbClr val="663300"/>
                </a:solidFill>
              </a:rPr>
              <a:t>cvEqualizeHist(</a:t>
            </a:r>
            <a:r>
              <a:rPr dirty="0" sz="3200" spc="-5">
                <a:solidFill>
                  <a:srgbClr val="663300"/>
                </a:solidFill>
              </a:rPr>
              <a:t> </a:t>
            </a:r>
            <a:r>
              <a:rPr dirty="0" sz="3200">
                <a:solidFill>
                  <a:srgbClr val="663300"/>
                </a:solidFill>
              </a:rPr>
              <a:t>img,</a:t>
            </a:r>
            <a:r>
              <a:rPr dirty="0" sz="3200" spc="5">
                <a:solidFill>
                  <a:srgbClr val="663300"/>
                </a:solidFill>
              </a:rPr>
              <a:t> </a:t>
            </a:r>
            <a:r>
              <a:rPr dirty="0" sz="3200">
                <a:solidFill>
                  <a:srgbClr val="663300"/>
                </a:solidFill>
              </a:rPr>
              <a:t>out</a:t>
            </a:r>
            <a:r>
              <a:rPr dirty="0" sz="3200" spc="-5">
                <a:solidFill>
                  <a:srgbClr val="663300"/>
                </a:solidFill>
              </a:rPr>
              <a:t> </a:t>
            </a:r>
            <a:r>
              <a:rPr dirty="0" sz="3200">
                <a:solidFill>
                  <a:srgbClr val="663300"/>
                </a:solidFill>
              </a:rPr>
              <a:t>);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6290" y="1979929"/>
            <a:ext cx="8907780" cy="5485130"/>
          </a:xfrm>
          <a:prstGeom prst="rect">
            <a:avLst/>
          </a:prstGeom>
        </p:spPr>
      </p:pic>
    </p:spTree>
  </p:cSld>
  <p:clrMapOvr>
    <a:masterClrMapping/>
  </p:clrMapOvr>
  <p:transition spd="fast">
    <p:wipe dir="l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5660" y="0"/>
            <a:ext cx="6214110" cy="1437005"/>
          </a:xfrm>
          <a:prstGeom prst="rect"/>
        </p:spPr>
        <p:txBody>
          <a:bodyPr wrap="square" lIns="0" tIns="159385" rIns="0" bIns="0" rtlCol="0" vert="horz">
            <a:spAutoFit/>
          </a:bodyPr>
          <a:lstStyle/>
          <a:p>
            <a:pPr marL="2237740">
              <a:lnSpc>
                <a:spcPct val="100000"/>
              </a:lnSpc>
              <a:spcBef>
                <a:spcPts val="1255"/>
              </a:spcBef>
            </a:pPr>
            <a:r>
              <a:rPr dirty="0"/>
              <a:t>Image</a:t>
            </a:r>
            <a:r>
              <a:rPr dirty="0" spc="-80"/>
              <a:t> </a:t>
            </a:r>
            <a:r>
              <a:rPr dirty="0"/>
              <a:t>Processing</a:t>
            </a: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3200">
                <a:solidFill>
                  <a:srgbClr val="663300"/>
                </a:solidFill>
              </a:rPr>
              <a:t>Edge</a:t>
            </a:r>
            <a:r>
              <a:rPr dirty="0" sz="3200" spc="-15">
                <a:solidFill>
                  <a:srgbClr val="663300"/>
                </a:solidFill>
              </a:rPr>
              <a:t> </a:t>
            </a:r>
            <a:r>
              <a:rPr dirty="0" sz="3200">
                <a:solidFill>
                  <a:srgbClr val="663300"/>
                </a:solidFill>
              </a:rPr>
              <a:t>detection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0540" y="3059429"/>
            <a:ext cx="4530090" cy="321183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49900" y="2519679"/>
            <a:ext cx="3810000" cy="3835400"/>
          </a:xfrm>
          <a:prstGeom prst="rect">
            <a:avLst/>
          </a:prstGeom>
        </p:spPr>
      </p:pic>
    </p:spTree>
  </p:cSld>
  <p:clrMapOvr>
    <a:masterClrMapping/>
  </p:clrMapOvr>
  <p:transition spd="fast">
    <p:wipe dir="l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5660" y="0"/>
            <a:ext cx="6214110" cy="1437005"/>
          </a:xfrm>
          <a:prstGeom prst="rect"/>
        </p:spPr>
        <p:txBody>
          <a:bodyPr wrap="square" lIns="0" tIns="159385" rIns="0" bIns="0" rtlCol="0" vert="horz">
            <a:spAutoFit/>
          </a:bodyPr>
          <a:lstStyle/>
          <a:p>
            <a:pPr marL="2237740">
              <a:lnSpc>
                <a:spcPct val="100000"/>
              </a:lnSpc>
              <a:spcBef>
                <a:spcPts val="1255"/>
              </a:spcBef>
            </a:pPr>
            <a:r>
              <a:rPr dirty="0"/>
              <a:t>Image</a:t>
            </a:r>
            <a:r>
              <a:rPr dirty="0" spc="-80"/>
              <a:t> </a:t>
            </a:r>
            <a:r>
              <a:rPr dirty="0"/>
              <a:t>Processing</a:t>
            </a: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3200">
                <a:solidFill>
                  <a:srgbClr val="663300"/>
                </a:solidFill>
              </a:rPr>
              <a:t>Sobel</a:t>
            </a:r>
            <a:r>
              <a:rPr dirty="0" sz="3200" spc="-10">
                <a:solidFill>
                  <a:srgbClr val="663300"/>
                </a:solidFill>
              </a:rPr>
              <a:t> </a:t>
            </a:r>
            <a:r>
              <a:rPr dirty="0" sz="3200">
                <a:solidFill>
                  <a:srgbClr val="663300"/>
                </a:solidFill>
              </a:rPr>
              <a:t>Edge</a:t>
            </a:r>
            <a:r>
              <a:rPr dirty="0" sz="3200" spc="-5">
                <a:solidFill>
                  <a:srgbClr val="663300"/>
                </a:solidFill>
              </a:rPr>
              <a:t> </a:t>
            </a:r>
            <a:r>
              <a:rPr dirty="0" sz="3200">
                <a:solidFill>
                  <a:srgbClr val="663300"/>
                </a:solidFill>
              </a:rPr>
              <a:t>Detector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0109" y="1440180"/>
            <a:ext cx="2540000" cy="3048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00040" y="4573270"/>
            <a:ext cx="3810000" cy="2806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0540" y="4611370"/>
            <a:ext cx="3810000" cy="2768600"/>
          </a:xfrm>
          <a:prstGeom prst="rect">
            <a:avLst/>
          </a:prstGeom>
        </p:spPr>
      </p:pic>
    </p:spTree>
  </p:cSld>
  <p:clrMapOvr>
    <a:masterClrMapping/>
  </p:clrMapOvr>
  <p:transition spd="fast">
    <p:wipe dir="l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5660" y="0"/>
            <a:ext cx="6214110" cy="1437005"/>
          </a:xfrm>
          <a:prstGeom prst="rect"/>
        </p:spPr>
        <p:txBody>
          <a:bodyPr wrap="square" lIns="0" tIns="159385" rIns="0" bIns="0" rtlCol="0" vert="horz">
            <a:spAutoFit/>
          </a:bodyPr>
          <a:lstStyle/>
          <a:p>
            <a:pPr marL="2237740">
              <a:lnSpc>
                <a:spcPct val="100000"/>
              </a:lnSpc>
              <a:spcBef>
                <a:spcPts val="1255"/>
              </a:spcBef>
            </a:pPr>
            <a:r>
              <a:rPr dirty="0"/>
              <a:t>Image</a:t>
            </a:r>
            <a:r>
              <a:rPr dirty="0" spc="-80"/>
              <a:t> </a:t>
            </a:r>
            <a:r>
              <a:rPr dirty="0"/>
              <a:t>Processing</a:t>
            </a: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3200" spc="5">
                <a:solidFill>
                  <a:srgbClr val="663300"/>
                </a:solidFill>
              </a:rPr>
              <a:t>Laplace</a:t>
            </a:r>
            <a:r>
              <a:rPr dirty="0" sz="3200" spc="-15">
                <a:solidFill>
                  <a:srgbClr val="663300"/>
                </a:solidFill>
              </a:rPr>
              <a:t> </a:t>
            </a:r>
            <a:r>
              <a:rPr dirty="0" sz="3200">
                <a:solidFill>
                  <a:srgbClr val="663300"/>
                </a:solidFill>
              </a:rPr>
              <a:t>Edge</a:t>
            </a:r>
            <a:r>
              <a:rPr dirty="0" sz="3200" spc="-10">
                <a:solidFill>
                  <a:srgbClr val="663300"/>
                </a:solidFill>
              </a:rPr>
              <a:t> </a:t>
            </a:r>
            <a:r>
              <a:rPr dirty="0" sz="3200">
                <a:solidFill>
                  <a:srgbClr val="663300"/>
                </a:solidFill>
              </a:rPr>
              <a:t>Detector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090" y="1619250"/>
            <a:ext cx="3810000" cy="28067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59450" y="1731010"/>
            <a:ext cx="3810000" cy="2768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30220" y="4679950"/>
            <a:ext cx="3810000" cy="2819400"/>
          </a:xfrm>
          <a:prstGeom prst="rect">
            <a:avLst/>
          </a:prstGeom>
        </p:spPr>
      </p:pic>
    </p:spTree>
  </p:cSld>
  <p:clrMapOvr>
    <a:masterClrMapping/>
  </p:clrMapOvr>
  <p:transition spd="fast">
    <p:wipe dir="l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60700" y="67309"/>
            <a:ext cx="398907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Image</a:t>
            </a:r>
            <a:r>
              <a:rPr dirty="0" spc="-80"/>
              <a:t> </a:t>
            </a:r>
            <a:r>
              <a:rPr dirty="0"/>
              <a:t>Processing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5660" y="701039"/>
            <a:ext cx="7378700" cy="2371090"/>
          </a:xfrm>
          <a:prstGeom prst="rect">
            <a:avLst/>
          </a:prstGeom>
        </p:spPr>
        <p:txBody>
          <a:bodyPr wrap="square" lIns="0" tIns="1562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Canny</a:t>
            </a:r>
            <a:r>
              <a:rPr dirty="0" sz="3200" spc="-1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Edge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Detector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Best</a:t>
            </a:r>
            <a:r>
              <a:rPr dirty="0" sz="3200" spc="-1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edge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 detector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available</a:t>
            </a:r>
            <a:endParaRPr sz="3200">
              <a:latin typeface="Times New Roman"/>
              <a:cs typeface="Times New Roman"/>
            </a:endParaRPr>
          </a:p>
          <a:p>
            <a:pPr marL="336550" marR="5080" indent="-323850">
              <a:lnSpc>
                <a:spcPts val="3560"/>
              </a:lnSpc>
              <a:spcBef>
                <a:spcPts val="1480"/>
              </a:spcBef>
            </a:pP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Uses</a:t>
            </a:r>
            <a:r>
              <a:rPr dirty="0" sz="3200" spc="1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more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advanced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intensity gradient based </a:t>
            </a:r>
            <a:r>
              <a:rPr dirty="0" sz="3200" spc="-78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methods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wipe dir="l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/>
              <a:t>Feature</a:t>
            </a:r>
            <a:r>
              <a:rPr dirty="0" spc="-85"/>
              <a:t> </a:t>
            </a:r>
            <a:r>
              <a:rPr dirty="0"/>
              <a:t>Detection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5660" y="844550"/>
            <a:ext cx="8137525" cy="547624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336550" marR="5080" indent="-323850">
              <a:lnSpc>
                <a:spcPts val="3550"/>
              </a:lnSpc>
              <a:spcBef>
                <a:spcPts val="459"/>
              </a:spcBef>
            </a:pP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The</a:t>
            </a:r>
            <a:r>
              <a:rPr dirty="0" sz="3200" spc="1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following 3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are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considered to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be</a:t>
            </a:r>
            <a:r>
              <a:rPr dirty="0" sz="3200" spc="1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keypoints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in </a:t>
            </a:r>
            <a:r>
              <a:rPr dirty="0" sz="3200" spc="-78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an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 image</a:t>
            </a:r>
            <a:endParaRPr sz="3200">
              <a:latin typeface="Times New Roman"/>
              <a:cs typeface="Times New Roman"/>
            </a:endParaRPr>
          </a:p>
          <a:p>
            <a:pPr marL="454025" indent="-441959">
              <a:lnSpc>
                <a:spcPct val="100000"/>
              </a:lnSpc>
              <a:spcBef>
                <a:spcPts val="1060"/>
              </a:spcBef>
              <a:buAutoNum type="arabicParenR"/>
              <a:tabLst>
                <a:tab pos="454659" algn="l"/>
              </a:tabLst>
            </a:pP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Edges</a:t>
            </a:r>
            <a:endParaRPr sz="3200">
              <a:latin typeface="Times New Roman"/>
              <a:cs typeface="Times New Roman"/>
            </a:endParaRPr>
          </a:p>
          <a:p>
            <a:pPr marL="454025" indent="-441959">
              <a:lnSpc>
                <a:spcPct val="100000"/>
              </a:lnSpc>
              <a:spcBef>
                <a:spcPts val="1140"/>
              </a:spcBef>
              <a:buAutoNum type="arabicParenR"/>
              <a:tabLst>
                <a:tab pos="454659" algn="l"/>
              </a:tabLst>
            </a:pP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Corner</a:t>
            </a:r>
            <a:r>
              <a:rPr dirty="0" sz="3200" spc="-1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(also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known</a:t>
            </a:r>
            <a:r>
              <a:rPr dirty="0" sz="3200" spc="1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as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interest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points)</a:t>
            </a:r>
            <a:endParaRPr sz="3200">
              <a:latin typeface="Times New Roman"/>
              <a:cs typeface="Times New Roman"/>
            </a:endParaRPr>
          </a:p>
          <a:p>
            <a:pPr marL="454025" indent="-441959">
              <a:lnSpc>
                <a:spcPct val="100000"/>
              </a:lnSpc>
              <a:spcBef>
                <a:spcPts val="1130"/>
              </a:spcBef>
              <a:buAutoNum type="arabicParenR"/>
              <a:tabLst>
                <a:tab pos="454659" algn="l"/>
              </a:tabLst>
            </a:pP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Blobs (also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known 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as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regions of interest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marL="336550" marR="26034" indent="-323850">
              <a:lnSpc>
                <a:spcPct val="92600"/>
              </a:lnSpc>
              <a:spcBef>
                <a:spcPts val="1415"/>
              </a:spcBef>
            </a:pP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Once</a:t>
            </a:r>
            <a:r>
              <a:rPr dirty="0" sz="3200" spc="1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the</a:t>
            </a:r>
            <a:r>
              <a:rPr dirty="0" sz="3200" spc="1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features</a:t>
            </a:r>
            <a:r>
              <a:rPr dirty="0" sz="3200" spc="1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have</a:t>
            </a:r>
            <a:r>
              <a:rPr dirty="0" sz="3200" spc="1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been</a:t>
            </a:r>
            <a:r>
              <a:rPr dirty="0" sz="3200" spc="1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found,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these</a:t>
            </a:r>
            <a:r>
              <a:rPr dirty="0" sz="3200" spc="1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features </a:t>
            </a:r>
            <a:r>
              <a:rPr dirty="0" sz="3200" spc="-78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are</a:t>
            </a:r>
            <a:r>
              <a:rPr dirty="0" sz="3200" spc="1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„described“.</a:t>
            </a:r>
            <a:r>
              <a:rPr dirty="0" sz="3200" spc="1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That is,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the</a:t>
            </a:r>
            <a:r>
              <a:rPr dirty="0" sz="3200" spc="1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details</a:t>
            </a:r>
            <a:r>
              <a:rPr dirty="0" sz="3200" spc="1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around</a:t>
            </a:r>
            <a:r>
              <a:rPr dirty="0" sz="3200" spc="1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the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 keypoints are</a:t>
            </a:r>
            <a:r>
              <a:rPr dirty="0" sz="3200" spc="1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recorded.</a:t>
            </a:r>
            <a:endParaRPr sz="3200">
              <a:latin typeface="Times New Roman"/>
              <a:cs typeface="Times New Roman"/>
            </a:endParaRPr>
          </a:p>
          <a:p>
            <a:pPr marL="336550" marR="1082675" indent="-323850">
              <a:lnSpc>
                <a:spcPts val="3560"/>
              </a:lnSpc>
              <a:spcBef>
                <a:spcPts val="1480"/>
              </a:spcBef>
            </a:pP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Later these</a:t>
            </a:r>
            <a:r>
              <a:rPr dirty="0" sz="3200" spc="1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descriptors</a:t>
            </a:r>
            <a:r>
              <a:rPr dirty="0" sz="3200" spc="1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are</a:t>
            </a:r>
            <a:r>
              <a:rPr dirty="0" sz="3200" spc="1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matched</a:t>
            </a:r>
            <a:r>
              <a:rPr dirty="0" sz="3200" spc="1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against </a:t>
            </a:r>
            <a:r>
              <a:rPr dirty="0" sz="3200" spc="-78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incoming images.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wipe dir="l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/>
              <a:t>Feature</a:t>
            </a:r>
            <a:r>
              <a:rPr dirty="0" spc="-85"/>
              <a:t> </a:t>
            </a:r>
            <a:r>
              <a:rPr dirty="0"/>
              <a:t>Detection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5660" y="1600199"/>
            <a:ext cx="8109584" cy="1918970"/>
          </a:xfrm>
          <a:prstGeom prst="rect">
            <a:avLst/>
          </a:prstGeom>
        </p:spPr>
        <p:txBody>
          <a:bodyPr wrap="square" lIns="0" tIns="1562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Feature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Extraction: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SURF, SIFT, 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BRIEF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ct val="129400"/>
              </a:lnSpc>
            </a:pP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Feature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Descriptors: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SURF,</a:t>
            </a:r>
            <a:r>
              <a:rPr dirty="0" sz="3200" spc="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SIFT,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 BRIEF, STAR </a:t>
            </a:r>
            <a:r>
              <a:rPr dirty="0" sz="3200" spc="-78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Matchers:</a:t>
            </a:r>
            <a:r>
              <a:rPr dirty="0" sz="3200" spc="-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FLANN, BruteForce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wipe dir="l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95320" y="3369309"/>
            <a:ext cx="222377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Thank</a:t>
            </a:r>
            <a:r>
              <a:rPr dirty="0" sz="3200" spc="-35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You</a:t>
            </a:r>
            <a:r>
              <a:rPr dirty="0" sz="3200" spc="-3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3300"/>
                </a:solidFill>
                <a:latin typeface="Times New Roman"/>
                <a:cs typeface="Times New Roman"/>
              </a:rPr>
              <a:t>:)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25309" y="6433820"/>
            <a:ext cx="28086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  <a:hlinkClick r:id="rId2"/>
              </a:rPr>
              <a:t>debayan@uberlabs.net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wipe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2022-11-27T06:26:02Z</dcterms:created>
  <dcterms:modified xsi:type="dcterms:W3CDTF">2022-11-27T06:26:02Z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2012-03-09T00:00:00Z</vt:filetime>
  </property>
  <property fmtid="{D5CDD505-2E9C-101B-9397-08002B2CF9AE}" pid="3" name="Creator">
    <vt:lpwstr>Impress</vt:lpwstr>
  </property>
  <property fmtid="{D5CDD505-2E9C-101B-9397-08002B2CF9AE}" pid="4" name="LastSaved">
    <vt:filetime>2012-03-09T00:00:00Z</vt:filetime>
  </property>
</Properties>
</file>